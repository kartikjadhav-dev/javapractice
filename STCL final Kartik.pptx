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8" r:id="rId3"/>
    <p:sldId id="294" r:id="rId4"/>
    <p:sldId id="276" r:id="rId5"/>
    <p:sldId id="296" r:id="rId6"/>
    <p:sldId id="297" r:id="rId7"/>
    <p:sldId id="298" r:id="rId8"/>
    <p:sldId id="299" r:id="rId9"/>
    <p:sldId id="304" r:id="rId10"/>
    <p:sldId id="300" r:id="rId11"/>
    <p:sldId id="301" r:id="rId12"/>
    <p:sldId id="302" r:id="rId13"/>
    <p:sldId id="30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51E3B99-37B1-4C05-A150-78FE35306D42}">
          <p14:sldIdLst>
            <p14:sldId id="257"/>
            <p14:sldId id="258"/>
            <p14:sldId id="294"/>
            <p14:sldId id="276"/>
            <p14:sldId id="296"/>
            <p14:sldId id="297"/>
            <p14:sldId id="298"/>
            <p14:sldId id="299"/>
            <p14:sldId id="304"/>
            <p14:sldId id="300"/>
            <p14:sldId id="301"/>
            <p14:sldId id="302"/>
            <p14:sldId id="303"/>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ADAA55-4FCB-47C0-AA83-3B88FA785945}" v="3" dt="2025-09-10T18:42:41.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3741" autoAdjust="0"/>
  </p:normalViewPr>
  <p:slideViewPr>
    <p:cSldViewPr snapToGrid="0">
      <p:cViewPr varScale="1">
        <p:scale>
          <a:sx n="89" d="100"/>
          <a:sy n="89" d="100"/>
        </p:scale>
        <p:origin x="466"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tik Jadhav B4" userId="0353a8f64223dd50" providerId="LiveId" clId="{69B66C42-C8FF-4637-8B2A-48B9350508FA}"/>
    <pc:docChg chg="custSel modSld">
      <pc:chgData name="Kartik Jadhav B4" userId="0353a8f64223dd50" providerId="LiveId" clId="{69B66C42-C8FF-4637-8B2A-48B9350508FA}" dt="2025-09-10T18:43:08.427" v="7" actId="14100"/>
      <pc:docMkLst>
        <pc:docMk/>
      </pc:docMkLst>
      <pc:sldChg chg="addSp delSp modSp mod">
        <pc:chgData name="Kartik Jadhav B4" userId="0353a8f64223dd50" providerId="LiveId" clId="{69B66C42-C8FF-4637-8B2A-48B9350508FA}" dt="2025-09-10T18:43:08.427" v="7" actId="14100"/>
        <pc:sldMkLst>
          <pc:docMk/>
          <pc:sldMk cId="2771348696" sldId="299"/>
        </pc:sldMkLst>
        <pc:spChg chg="add del mod">
          <ac:chgData name="Kartik Jadhav B4" userId="0353a8f64223dd50" providerId="LiveId" clId="{69B66C42-C8FF-4637-8B2A-48B9350508FA}" dt="2025-09-10T18:42:41.961" v="3" actId="931"/>
          <ac:spMkLst>
            <pc:docMk/>
            <pc:sldMk cId="2771348696" sldId="299"/>
            <ac:spMk id="3" creationId="{22099D99-75D0-0442-57AC-B30FD6A153A4}"/>
          </ac:spMkLst>
        </pc:spChg>
        <pc:spChg chg="del mod">
          <ac:chgData name="Kartik Jadhav B4" userId="0353a8f64223dd50" providerId="LiveId" clId="{69B66C42-C8FF-4637-8B2A-48B9350508FA}" dt="2025-09-10T18:42:31.170" v="2" actId="478"/>
          <ac:spMkLst>
            <pc:docMk/>
            <pc:sldMk cId="2771348696" sldId="299"/>
            <ac:spMk id="4" creationId="{4C63B372-1349-7783-B170-C543EFD584D6}"/>
          </ac:spMkLst>
        </pc:spChg>
        <pc:picChg chg="add mod">
          <ac:chgData name="Kartik Jadhav B4" userId="0353a8f64223dd50" providerId="LiveId" clId="{69B66C42-C8FF-4637-8B2A-48B9350508FA}" dt="2025-09-10T18:43:08.427" v="7" actId="14100"/>
          <ac:picMkLst>
            <pc:docMk/>
            <pc:sldMk cId="2771348696" sldId="299"/>
            <ac:picMk id="6" creationId="{D30D7919-7642-850E-C72D-3673D037A490}"/>
          </ac:picMkLst>
        </pc:picChg>
        <pc:picChg chg="del">
          <ac:chgData name="Kartik Jadhav B4" userId="0353a8f64223dd50" providerId="LiveId" clId="{69B66C42-C8FF-4637-8B2A-48B9350508FA}" dt="2025-09-10T18:42:26.667" v="0" actId="478"/>
          <ac:picMkLst>
            <pc:docMk/>
            <pc:sldMk cId="2771348696" sldId="299"/>
            <ac:picMk id="8" creationId="{5C52826A-7D6D-7765-FD6D-7B8D5920D5A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9F7115-B197-4444-B14B-51C02FC93F55}" type="datetimeFigureOut">
              <a:rPr lang="en-IN" smtClean="0"/>
              <a:t>11-09-2025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5EA2EB-C721-4D95-81DC-26377D546D67}" type="slidenum">
              <a:rPr lang="en-IN" smtClean="0"/>
              <a:t>‹#›</a:t>
            </a:fld>
            <a:endParaRPr lang="en-IN"/>
          </a:p>
        </p:txBody>
      </p:sp>
    </p:spTree>
    <p:extLst>
      <p:ext uri="{BB962C8B-B14F-4D97-AF65-F5344CB8AC3E}">
        <p14:creationId xmlns:p14="http://schemas.microsoft.com/office/powerpoint/2010/main" val="487211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67E6D-3AF5-49E6-9615-0C220CCC960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F7C8936-A9C8-4F94-8252-718978B8CC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05EFDBB-F039-4C3C-B029-B3B0BB9E5B63}"/>
              </a:ext>
            </a:extLst>
          </p:cNvPr>
          <p:cNvSpPr>
            <a:spLocks noGrp="1"/>
          </p:cNvSpPr>
          <p:nvPr>
            <p:ph type="dt" sz="half" idx="10"/>
          </p:nvPr>
        </p:nvSpPr>
        <p:spPr/>
        <p:txBody>
          <a:bodyPr/>
          <a:lstStyle/>
          <a:p>
            <a:fld id="{9E889E4F-45B2-484A-B526-8BE5D7E232FB}" type="datetimeFigureOut">
              <a:rPr lang="en-IN" smtClean="0"/>
              <a:t>11-09-2025</a:t>
            </a:fld>
            <a:endParaRPr lang="en-IN"/>
          </a:p>
        </p:txBody>
      </p:sp>
      <p:sp>
        <p:nvSpPr>
          <p:cNvPr id="5" name="Footer Placeholder 4">
            <a:extLst>
              <a:ext uri="{FF2B5EF4-FFF2-40B4-BE49-F238E27FC236}">
                <a16:creationId xmlns:a16="http://schemas.microsoft.com/office/drawing/2014/main" id="{AC5CDD37-DA8B-4348-BF9F-72591BF502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D81C8D-7D8A-4D23-AC4A-D2BA11289CC4}"/>
              </a:ext>
            </a:extLst>
          </p:cNvPr>
          <p:cNvSpPr>
            <a:spLocks noGrp="1"/>
          </p:cNvSpPr>
          <p:nvPr>
            <p:ph type="sldNum" sz="quarter" idx="12"/>
          </p:nvPr>
        </p:nvSpPr>
        <p:spPr/>
        <p:txBody>
          <a:bodyPr/>
          <a:lstStyle/>
          <a:p>
            <a:fld id="{44C2F0D1-F201-413F-935B-5719BF31E5A1}" type="slidenum">
              <a:rPr lang="en-IN" smtClean="0"/>
              <a:t>‹#›</a:t>
            </a:fld>
            <a:endParaRPr lang="en-IN"/>
          </a:p>
        </p:txBody>
      </p:sp>
    </p:spTree>
    <p:extLst>
      <p:ext uri="{BB962C8B-B14F-4D97-AF65-F5344CB8AC3E}">
        <p14:creationId xmlns:p14="http://schemas.microsoft.com/office/powerpoint/2010/main" val="157721392"/>
      </p:ext>
    </p:extLst>
  </p:cSld>
  <p:clrMapOvr>
    <a:masterClrMapping/>
  </p:clrMapOvr>
  <mc:AlternateContent xmlns:mc="http://schemas.openxmlformats.org/markup-compatibility/2006" xmlns:p14="http://schemas.microsoft.com/office/powerpoint/2010/main">
    <mc:Choice Requires="p14">
      <p:transition spd="slow" p14:dur="1300" advTm="4699">
        <p14:pan dir="u"/>
      </p:transition>
    </mc:Choice>
    <mc:Fallback xmlns="">
      <p:transition spd="slow" advTm="4699">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A9274-546F-4B32-85CE-5F15564D9D1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B35837C-9F2D-4335-A643-065858D7F34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C11958-A0A8-42BF-BFEC-82B10E4A1840}"/>
              </a:ext>
            </a:extLst>
          </p:cNvPr>
          <p:cNvSpPr>
            <a:spLocks noGrp="1"/>
          </p:cNvSpPr>
          <p:nvPr>
            <p:ph type="dt" sz="half" idx="10"/>
          </p:nvPr>
        </p:nvSpPr>
        <p:spPr/>
        <p:txBody>
          <a:bodyPr/>
          <a:lstStyle/>
          <a:p>
            <a:fld id="{9E889E4F-45B2-484A-B526-8BE5D7E232FB}" type="datetimeFigureOut">
              <a:rPr lang="en-IN" smtClean="0"/>
              <a:t>11-09-2025</a:t>
            </a:fld>
            <a:endParaRPr lang="en-IN"/>
          </a:p>
        </p:txBody>
      </p:sp>
      <p:sp>
        <p:nvSpPr>
          <p:cNvPr id="5" name="Footer Placeholder 4">
            <a:extLst>
              <a:ext uri="{FF2B5EF4-FFF2-40B4-BE49-F238E27FC236}">
                <a16:creationId xmlns:a16="http://schemas.microsoft.com/office/drawing/2014/main" id="{405F7FE1-BA93-4B5C-AC16-21A1C50BDC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1CD76B-C577-4577-A398-6DED9DA1CCB2}"/>
              </a:ext>
            </a:extLst>
          </p:cNvPr>
          <p:cNvSpPr>
            <a:spLocks noGrp="1"/>
          </p:cNvSpPr>
          <p:nvPr>
            <p:ph type="sldNum" sz="quarter" idx="12"/>
          </p:nvPr>
        </p:nvSpPr>
        <p:spPr/>
        <p:txBody>
          <a:bodyPr/>
          <a:lstStyle/>
          <a:p>
            <a:fld id="{44C2F0D1-F201-413F-935B-5719BF31E5A1}" type="slidenum">
              <a:rPr lang="en-IN" smtClean="0"/>
              <a:t>‹#›</a:t>
            </a:fld>
            <a:endParaRPr lang="en-IN"/>
          </a:p>
        </p:txBody>
      </p:sp>
    </p:spTree>
    <p:extLst>
      <p:ext uri="{BB962C8B-B14F-4D97-AF65-F5344CB8AC3E}">
        <p14:creationId xmlns:p14="http://schemas.microsoft.com/office/powerpoint/2010/main" val="2494228014"/>
      </p:ext>
    </p:extLst>
  </p:cSld>
  <p:clrMapOvr>
    <a:masterClrMapping/>
  </p:clrMapOvr>
  <mc:AlternateContent xmlns:mc="http://schemas.openxmlformats.org/markup-compatibility/2006" xmlns:p14="http://schemas.microsoft.com/office/powerpoint/2010/main">
    <mc:Choice Requires="p14">
      <p:transition spd="slow" p14:dur="1300" advTm="4699">
        <p14:pan dir="u"/>
      </p:transition>
    </mc:Choice>
    <mc:Fallback xmlns="">
      <p:transition spd="slow" advTm="4699">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E9CBD-E74A-4F9E-8635-D10CBEC1884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49A0572-E77F-4955-9836-A67610B93E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FFDCA5-183C-4010-BFEF-EBE00BA1E173}"/>
              </a:ext>
            </a:extLst>
          </p:cNvPr>
          <p:cNvSpPr>
            <a:spLocks noGrp="1"/>
          </p:cNvSpPr>
          <p:nvPr>
            <p:ph type="dt" sz="half" idx="10"/>
          </p:nvPr>
        </p:nvSpPr>
        <p:spPr/>
        <p:txBody>
          <a:bodyPr/>
          <a:lstStyle/>
          <a:p>
            <a:fld id="{9E889E4F-45B2-484A-B526-8BE5D7E232FB}" type="datetimeFigureOut">
              <a:rPr lang="en-IN" smtClean="0"/>
              <a:t>11-09-2025</a:t>
            </a:fld>
            <a:endParaRPr lang="en-IN"/>
          </a:p>
        </p:txBody>
      </p:sp>
      <p:sp>
        <p:nvSpPr>
          <p:cNvPr id="5" name="Footer Placeholder 4">
            <a:extLst>
              <a:ext uri="{FF2B5EF4-FFF2-40B4-BE49-F238E27FC236}">
                <a16:creationId xmlns:a16="http://schemas.microsoft.com/office/drawing/2014/main" id="{9A4BF9FC-174E-4806-91FD-B19394EA52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65615B-C24B-45DD-8E56-B1B70E86D4F2}"/>
              </a:ext>
            </a:extLst>
          </p:cNvPr>
          <p:cNvSpPr>
            <a:spLocks noGrp="1"/>
          </p:cNvSpPr>
          <p:nvPr>
            <p:ph type="sldNum" sz="quarter" idx="12"/>
          </p:nvPr>
        </p:nvSpPr>
        <p:spPr/>
        <p:txBody>
          <a:bodyPr/>
          <a:lstStyle/>
          <a:p>
            <a:fld id="{44C2F0D1-F201-413F-935B-5719BF31E5A1}" type="slidenum">
              <a:rPr lang="en-IN" smtClean="0"/>
              <a:t>‹#›</a:t>
            </a:fld>
            <a:endParaRPr lang="en-IN"/>
          </a:p>
        </p:txBody>
      </p:sp>
    </p:spTree>
    <p:extLst>
      <p:ext uri="{BB962C8B-B14F-4D97-AF65-F5344CB8AC3E}">
        <p14:creationId xmlns:p14="http://schemas.microsoft.com/office/powerpoint/2010/main" val="3243116362"/>
      </p:ext>
    </p:extLst>
  </p:cSld>
  <p:clrMapOvr>
    <a:masterClrMapping/>
  </p:clrMapOvr>
  <mc:AlternateContent xmlns:mc="http://schemas.openxmlformats.org/markup-compatibility/2006" xmlns:p14="http://schemas.microsoft.com/office/powerpoint/2010/main">
    <mc:Choice Requires="p14">
      <p:transition spd="slow" p14:dur="1300" advTm="4699">
        <p14:pan dir="u"/>
      </p:transition>
    </mc:Choice>
    <mc:Fallback xmlns="">
      <p:transition spd="slow" advTm="4699">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51EE6-806E-4CA2-8F65-9FB495C9B88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E3350D5-724A-4609-BDC4-EBA33C63D62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E7F0FFC-2E61-4B38-AB8E-BBD68C8E499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686E678-0569-4F1D-8FB4-AF985CD7159C}"/>
              </a:ext>
            </a:extLst>
          </p:cNvPr>
          <p:cNvSpPr>
            <a:spLocks noGrp="1"/>
          </p:cNvSpPr>
          <p:nvPr>
            <p:ph type="dt" sz="half" idx="10"/>
          </p:nvPr>
        </p:nvSpPr>
        <p:spPr/>
        <p:txBody>
          <a:bodyPr/>
          <a:lstStyle/>
          <a:p>
            <a:fld id="{9E889E4F-45B2-484A-B526-8BE5D7E232FB}" type="datetimeFigureOut">
              <a:rPr lang="en-IN" smtClean="0"/>
              <a:t>11-09-2025</a:t>
            </a:fld>
            <a:endParaRPr lang="en-IN"/>
          </a:p>
        </p:txBody>
      </p:sp>
      <p:sp>
        <p:nvSpPr>
          <p:cNvPr id="6" name="Footer Placeholder 5">
            <a:extLst>
              <a:ext uri="{FF2B5EF4-FFF2-40B4-BE49-F238E27FC236}">
                <a16:creationId xmlns:a16="http://schemas.microsoft.com/office/drawing/2014/main" id="{F05F846E-9A69-4BB6-A535-BC79DB0E33E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D25A926-13BE-418B-B373-294ECBA5DFB3}"/>
              </a:ext>
            </a:extLst>
          </p:cNvPr>
          <p:cNvSpPr>
            <a:spLocks noGrp="1"/>
          </p:cNvSpPr>
          <p:nvPr>
            <p:ph type="sldNum" sz="quarter" idx="12"/>
          </p:nvPr>
        </p:nvSpPr>
        <p:spPr/>
        <p:txBody>
          <a:bodyPr/>
          <a:lstStyle/>
          <a:p>
            <a:fld id="{44C2F0D1-F201-413F-935B-5719BF31E5A1}" type="slidenum">
              <a:rPr lang="en-IN" smtClean="0"/>
              <a:t>‹#›</a:t>
            </a:fld>
            <a:endParaRPr lang="en-IN"/>
          </a:p>
        </p:txBody>
      </p:sp>
    </p:spTree>
    <p:extLst>
      <p:ext uri="{BB962C8B-B14F-4D97-AF65-F5344CB8AC3E}">
        <p14:creationId xmlns:p14="http://schemas.microsoft.com/office/powerpoint/2010/main" val="1816278232"/>
      </p:ext>
    </p:extLst>
  </p:cSld>
  <p:clrMapOvr>
    <a:masterClrMapping/>
  </p:clrMapOvr>
  <mc:AlternateContent xmlns:mc="http://schemas.openxmlformats.org/markup-compatibility/2006" xmlns:p14="http://schemas.microsoft.com/office/powerpoint/2010/main">
    <mc:Choice Requires="p14">
      <p:transition spd="slow" p14:dur="1300" advTm="4699">
        <p14:pan dir="u"/>
      </p:transition>
    </mc:Choice>
    <mc:Fallback xmlns="">
      <p:transition spd="slow" advTm="4699">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E9155-A18D-4783-84DD-0036D0AEEBC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B1A588A-A6E5-4B53-AC27-6DBC43C0E8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5CD79B1-0B65-46A5-A271-1BBF8671D3A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ECD4151-BC0E-446C-9B34-5CCD93C61C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8D382F0-71DF-45E0-A761-DFBB6BD657C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CAA58A2-2FCB-493F-B5B0-E3EA8DBC1C38}"/>
              </a:ext>
            </a:extLst>
          </p:cNvPr>
          <p:cNvSpPr>
            <a:spLocks noGrp="1"/>
          </p:cNvSpPr>
          <p:nvPr>
            <p:ph type="dt" sz="half" idx="10"/>
          </p:nvPr>
        </p:nvSpPr>
        <p:spPr/>
        <p:txBody>
          <a:bodyPr/>
          <a:lstStyle/>
          <a:p>
            <a:fld id="{9E889E4F-45B2-484A-B526-8BE5D7E232FB}" type="datetimeFigureOut">
              <a:rPr lang="en-IN" smtClean="0"/>
              <a:t>11-09-2025</a:t>
            </a:fld>
            <a:endParaRPr lang="en-IN"/>
          </a:p>
        </p:txBody>
      </p:sp>
      <p:sp>
        <p:nvSpPr>
          <p:cNvPr id="8" name="Footer Placeholder 7">
            <a:extLst>
              <a:ext uri="{FF2B5EF4-FFF2-40B4-BE49-F238E27FC236}">
                <a16:creationId xmlns:a16="http://schemas.microsoft.com/office/drawing/2014/main" id="{68D2C7FE-DBBD-4972-9B39-2C68EEFEF9C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951FA8F-6647-475F-90E2-4245974DF9D2}"/>
              </a:ext>
            </a:extLst>
          </p:cNvPr>
          <p:cNvSpPr>
            <a:spLocks noGrp="1"/>
          </p:cNvSpPr>
          <p:nvPr>
            <p:ph type="sldNum" sz="quarter" idx="12"/>
          </p:nvPr>
        </p:nvSpPr>
        <p:spPr/>
        <p:txBody>
          <a:bodyPr/>
          <a:lstStyle/>
          <a:p>
            <a:fld id="{44C2F0D1-F201-413F-935B-5719BF31E5A1}" type="slidenum">
              <a:rPr lang="en-IN" smtClean="0"/>
              <a:t>‹#›</a:t>
            </a:fld>
            <a:endParaRPr lang="en-IN"/>
          </a:p>
        </p:txBody>
      </p:sp>
    </p:spTree>
    <p:extLst>
      <p:ext uri="{BB962C8B-B14F-4D97-AF65-F5344CB8AC3E}">
        <p14:creationId xmlns:p14="http://schemas.microsoft.com/office/powerpoint/2010/main" val="3461299656"/>
      </p:ext>
    </p:extLst>
  </p:cSld>
  <p:clrMapOvr>
    <a:masterClrMapping/>
  </p:clrMapOvr>
  <mc:AlternateContent xmlns:mc="http://schemas.openxmlformats.org/markup-compatibility/2006" xmlns:p14="http://schemas.microsoft.com/office/powerpoint/2010/main">
    <mc:Choice Requires="p14">
      <p:transition spd="slow" p14:dur="1300" advTm="4699">
        <p14:pan dir="u"/>
      </p:transition>
    </mc:Choice>
    <mc:Fallback xmlns="">
      <p:transition spd="slow" advTm="4699">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54553-67C9-4AA0-8ECC-27E634FFA7E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CF49D00-549E-40CF-A6F2-30C4B2D5E561}"/>
              </a:ext>
            </a:extLst>
          </p:cNvPr>
          <p:cNvSpPr>
            <a:spLocks noGrp="1"/>
          </p:cNvSpPr>
          <p:nvPr>
            <p:ph type="dt" sz="half" idx="10"/>
          </p:nvPr>
        </p:nvSpPr>
        <p:spPr/>
        <p:txBody>
          <a:bodyPr/>
          <a:lstStyle/>
          <a:p>
            <a:fld id="{9E889E4F-45B2-484A-B526-8BE5D7E232FB}" type="datetimeFigureOut">
              <a:rPr lang="en-IN" smtClean="0"/>
              <a:t>11-09-2025</a:t>
            </a:fld>
            <a:endParaRPr lang="en-IN"/>
          </a:p>
        </p:txBody>
      </p:sp>
      <p:sp>
        <p:nvSpPr>
          <p:cNvPr id="4" name="Footer Placeholder 3">
            <a:extLst>
              <a:ext uri="{FF2B5EF4-FFF2-40B4-BE49-F238E27FC236}">
                <a16:creationId xmlns:a16="http://schemas.microsoft.com/office/drawing/2014/main" id="{A6C70408-907E-4E3F-9AC6-0C37114FF47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F0C5FD6-4888-4C26-83A9-1EC09B51E1F3}"/>
              </a:ext>
            </a:extLst>
          </p:cNvPr>
          <p:cNvSpPr>
            <a:spLocks noGrp="1"/>
          </p:cNvSpPr>
          <p:nvPr>
            <p:ph type="sldNum" sz="quarter" idx="12"/>
          </p:nvPr>
        </p:nvSpPr>
        <p:spPr/>
        <p:txBody>
          <a:bodyPr/>
          <a:lstStyle/>
          <a:p>
            <a:fld id="{44C2F0D1-F201-413F-935B-5719BF31E5A1}" type="slidenum">
              <a:rPr lang="en-IN" smtClean="0"/>
              <a:t>‹#›</a:t>
            </a:fld>
            <a:endParaRPr lang="en-IN"/>
          </a:p>
        </p:txBody>
      </p:sp>
    </p:spTree>
    <p:extLst>
      <p:ext uri="{BB962C8B-B14F-4D97-AF65-F5344CB8AC3E}">
        <p14:creationId xmlns:p14="http://schemas.microsoft.com/office/powerpoint/2010/main" val="2964778607"/>
      </p:ext>
    </p:extLst>
  </p:cSld>
  <p:clrMapOvr>
    <a:masterClrMapping/>
  </p:clrMapOvr>
  <mc:AlternateContent xmlns:mc="http://schemas.openxmlformats.org/markup-compatibility/2006" xmlns:p14="http://schemas.microsoft.com/office/powerpoint/2010/main">
    <mc:Choice Requires="p14">
      <p:transition spd="slow" p14:dur="1300" advTm="4699">
        <p14:pan dir="u"/>
      </p:transition>
    </mc:Choice>
    <mc:Fallback xmlns="">
      <p:transition spd="slow" advTm="4699">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A2530B-5AE2-4455-A683-DB1D26A7B496}"/>
              </a:ext>
            </a:extLst>
          </p:cNvPr>
          <p:cNvSpPr>
            <a:spLocks noGrp="1"/>
          </p:cNvSpPr>
          <p:nvPr>
            <p:ph type="dt" sz="half" idx="10"/>
          </p:nvPr>
        </p:nvSpPr>
        <p:spPr/>
        <p:txBody>
          <a:bodyPr/>
          <a:lstStyle/>
          <a:p>
            <a:fld id="{9E889E4F-45B2-484A-B526-8BE5D7E232FB}" type="datetimeFigureOut">
              <a:rPr lang="en-IN" smtClean="0"/>
              <a:t>11-09-2025</a:t>
            </a:fld>
            <a:endParaRPr lang="en-IN"/>
          </a:p>
        </p:txBody>
      </p:sp>
      <p:sp>
        <p:nvSpPr>
          <p:cNvPr id="3" name="Footer Placeholder 2">
            <a:extLst>
              <a:ext uri="{FF2B5EF4-FFF2-40B4-BE49-F238E27FC236}">
                <a16:creationId xmlns:a16="http://schemas.microsoft.com/office/drawing/2014/main" id="{BA12A7F7-C6C6-4D25-A583-907E8F2E922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F5BC784-6EC5-4DD4-BF58-C9AAEA1DA088}"/>
              </a:ext>
            </a:extLst>
          </p:cNvPr>
          <p:cNvSpPr>
            <a:spLocks noGrp="1"/>
          </p:cNvSpPr>
          <p:nvPr>
            <p:ph type="sldNum" sz="quarter" idx="12"/>
          </p:nvPr>
        </p:nvSpPr>
        <p:spPr/>
        <p:txBody>
          <a:bodyPr/>
          <a:lstStyle/>
          <a:p>
            <a:fld id="{44C2F0D1-F201-413F-935B-5719BF31E5A1}" type="slidenum">
              <a:rPr lang="en-IN" smtClean="0"/>
              <a:t>‹#›</a:t>
            </a:fld>
            <a:endParaRPr lang="en-IN"/>
          </a:p>
        </p:txBody>
      </p:sp>
    </p:spTree>
    <p:extLst>
      <p:ext uri="{BB962C8B-B14F-4D97-AF65-F5344CB8AC3E}">
        <p14:creationId xmlns:p14="http://schemas.microsoft.com/office/powerpoint/2010/main" val="413388263"/>
      </p:ext>
    </p:extLst>
  </p:cSld>
  <p:clrMapOvr>
    <a:masterClrMapping/>
  </p:clrMapOvr>
  <mc:AlternateContent xmlns:mc="http://schemas.openxmlformats.org/markup-compatibility/2006" xmlns:p14="http://schemas.microsoft.com/office/powerpoint/2010/main">
    <mc:Choice Requires="p14">
      <p:transition spd="slow" p14:dur="1300" advTm="4699">
        <p14:pan dir="u"/>
      </p:transition>
    </mc:Choice>
    <mc:Fallback xmlns="">
      <p:transition spd="slow" advTm="4699">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B8FC0-5C44-4D46-9377-968E001572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A335ABF-E33F-4777-AA88-7E697CFFF4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A7446D6-3015-48E3-9DCB-3256F3F4D9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8CBEFD-1EB5-48FC-83D4-95CE62AAFC49}"/>
              </a:ext>
            </a:extLst>
          </p:cNvPr>
          <p:cNvSpPr>
            <a:spLocks noGrp="1"/>
          </p:cNvSpPr>
          <p:nvPr>
            <p:ph type="dt" sz="half" idx="10"/>
          </p:nvPr>
        </p:nvSpPr>
        <p:spPr/>
        <p:txBody>
          <a:bodyPr/>
          <a:lstStyle/>
          <a:p>
            <a:fld id="{9E889E4F-45B2-484A-B526-8BE5D7E232FB}" type="datetimeFigureOut">
              <a:rPr lang="en-IN" smtClean="0"/>
              <a:t>11-09-2025</a:t>
            </a:fld>
            <a:endParaRPr lang="en-IN"/>
          </a:p>
        </p:txBody>
      </p:sp>
      <p:sp>
        <p:nvSpPr>
          <p:cNvPr id="6" name="Footer Placeholder 5">
            <a:extLst>
              <a:ext uri="{FF2B5EF4-FFF2-40B4-BE49-F238E27FC236}">
                <a16:creationId xmlns:a16="http://schemas.microsoft.com/office/drawing/2014/main" id="{A64BBE5A-F274-4DAD-9F10-A592AD1AC44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87C6860-26D6-4D92-8438-590F3A04525D}"/>
              </a:ext>
            </a:extLst>
          </p:cNvPr>
          <p:cNvSpPr>
            <a:spLocks noGrp="1"/>
          </p:cNvSpPr>
          <p:nvPr>
            <p:ph type="sldNum" sz="quarter" idx="12"/>
          </p:nvPr>
        </p:nvSpPr>
        <p:spPr/>
        <p:txBody>
          <a:bodyPr/>
          <a:lstStyle/>
          <a:p>
            <a:fld id="{44C2F0D1-F201-413F-935B-5719BF31E5A1}" type="slidenum">
              <a:rPr lang="en-IN" smtClean="0"/>
              <a:t>‹#›</a:t>
            </a:fld>
            <a:endParaRPr lang="en-IN"/>
          </a:p>
        </p:txBody>
      </p:sp>
    </p:spTree>
    <p:extLst>
      <p:ext uri="{BB962C8B-B14F-4D97-AF65-F5344CB8AC3E}">
        <p14:creationId xmlns:p14="http://schemas.microsoft.com/office/powerpoint/2010/main" val="429518847"/>
      </p:ext>
    </p:extLst>
  </p:cSld>
  <p:clrMapOvr>
    <a:masterClrMapping/>
  </p:clrMapOvr>
  <mc:AlternateContent xmlns:mc="http://schemas.openxmlformats.org/markup-compatibility/2006" xmlns:p14="http://schemas.microsoft.com/office/powerpoint/2010/main">
    <mc:Choice Requires="p14">
      <p:transition spd="slow" p14:dur="1300" advTm="4699">
        <p14:pan dir="u"/>
      </p:transition>
    </mc:Choice>
    <mc:Fallback xmlns="">
      <p:transition spd="slow" advTm="4699">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98927-FAD4-48F8-B890-F492B755C4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57D18B0-31A5-4822-A2AC-7FA0D1B77E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CE81CEC-5C40-40E5-A36F-F97548EB10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1EB307-45F6-4367-AE38-1F98C9C18D6C}"/>
              </a:ext>
            </a:extLst>
          </p:cNvPr>
          <p:cNvSpPr>
            <a:spLocks noGrp="1"/>
          </p:cNvSpPr>
          <p:nvPr>
            <p:ph type="dt" sz="half" idx="10"/>
          </p:nvPr>
        </p:nvSpPr>
        <p:spPr/>
        <p:txBody>
          <a:bodyPr/>
          <a:lstStyle/>
          <a:p>
            <a:fld id="{9E889E4F-45B2-484A-B526-8BE5D7E232FB}" type="datetimeFigureOut">
              <a:rPr lang="en-IN" smtClean="0"/>
              <a:t>11-09-2025</a:t>
            </a:fld>
            <a:endParaRPr lang="en-IN"/>
          </a:p>
        </p:txBody>
      </p:sp>
      <p:sp>
        <p:nvSpPr>
          <p:cNvPr id="6" name="Footer Placeholder 5">
            <a:extLst>
              <a:ext uri="{FF2B5EF4-FFF2-40B4-BE49-F238E27FC236}">
                <a16:creationId xmlns:a16="http://schemas.microsoft.com/office/drawing/2014/main" id="{1839DFD9-7B03-4FFC-8DE3-922F3A8B25D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3C4CD36-5FC8-48C9-9F0B-5E86576AF7A2}"/>
              </a:ext>
            </a:extLst>
          </p:cNvPr>
          <p:cNvSpPr>
            <a:spLocks noGrp="1"/>
          </p:cNvSpPr>
          <p:nvPr>
            <p:ph type="sldNum" sz="quarter" idx="12"/>
          </p:nvPr>
        </p:nvSpPr>
        <p:spPr/>
        <p:txBody>
          <a:bodyPr/>
          <a:lstStyle/>
          <a:p>
            <a:fld id="{44C2F0D1-F201-413F-935B-5719BF31E5A1}" type="slidenum">
              <a:rPr lang="en-IN" smtClean="0"/>
              <a:t>‹#›</a:t>
            </a:fld>
            <a:endParaRPr lang="en-IN"/>
          </a:p>
        </p:txBody>
      </p:sp>
    </p:spTree>
    <p:extLst>
      <p:ext uri="{BB962C8B-B14F-4D97-AF65-F5344CB8AC3E}">
        <p14:creationId xmlns:p14="http://schemas.microsoft.com/office/powerpoint/2010/main" val="1991631696"/>
      </p:ext>
    </p:extLst>
  </p:cSld>
  <p:clrMapOvr>
    <a:masterClrMapping/>
  </p:clrMapOvr>
  <mc:AlternateContent xmlns:mc="http://schemas.openxmlformats.org/markup-compatibility/2006" xmlns:p14="http://schemas.microsoft.com/office/powerpoint/2010/main">
    <mc:Choice Requires="p14">
      <p:transition spd="slow" p14:dur="1300" advTm="4699">
        <p14:pan dir="u"/>
      </p:transition>
    </mc:Choice>
    <mc:Fallback xmlns="">
      <p:transition spd="slow" advTm="4699">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EC077-0363-4D22-8FAA-59F176B07BE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8CCC3C4-5B02-4A25-AA97-DAD71671AE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334AD6-AD21-43F6-AC07-6FC4CADED293}"/>
              </a:ext>
            </a:extLst>
          </p:cNvPr>
          <p:cNvSpPr>
            <a:spLocks noGrp="1"/>
          </p:cNvSpPr>
          <p:nvPr>
            <p:ph type="dt" sz="half" idx="10"/>
          </p:nvPr>
        </p:nvSpPr>
        <p:spPr/>
        <p:txBody>
          <a:bodyPr/>
          <a:lstStyle/>
          <a:p>
            <a:fld id="{9E889E4F-45B2-484A-B526-8BE5D7E232FB}" type="datetimeFigureOut">
              <a:rPr lang="en-IN" smtClean="0"/>
              <a:t>11-09-2025</a:t>
            </a:fld>
            <a:endParaRPr lang="en-IN"/>
          </a:p>
        </p:txBody>
      </p:sp>
      <p:sp>
        <p:nvSpPr>
          <p:cNvPr id="5" name="Footer Placeholder 4">
            <a:extLst>
              <a:ext uri="{FF2B5EF4-FFF2-40B4-BE49-F238E27FC236}">
                <a16:creationId xmlns:a16="http://schemas.microsoft.com/office/drawing/2014/main" id="{C25BD343-F8A3-467F-9E88-9A9FAA18D1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4BC2AF-10F7-4CB4-A690-E71A99733E2A}"/>
              </a:ext>
            </a:extLst>
          </p:cNvPr>
          <p:cNvSpPr>
            <a:spLocks noGrp="1"/>
          </p:cNvSpPr>
          <p:nvPr>
            <p:ph type="sldNum" sz="quarter" idx="12"/>
          </p:nvPr>
        </p:nvSpPr>
        <p:spPr/>
        <p:txBody>
          <a:bodyPr/>
          <a:lstStyle/>
          <a:p>
            <a:fld id="{44C2F0D1-F201-413F-935B-5719BF31E5A1}" type="slidenum">
              <a:rPr lang="en-IN" smtClean="0"/>
              <a:t>‹#›</a:t>
            </a:fld>
            <a:endParaRPr lang="en-IN"/>
          </a:p>
        </p:txBody>
      </p:sp>
    </p:spTree>
    <p:extLst>
      <p:ext uri="{BB962C8B-B14F-4D97-AF65-F5344CB8AC3E}">
        <p14:creationId xmlns:p14="http://schemas.microsoft.com/office/powerpoint/2010/main" val="209664821"/>
      </p:ext>
    </p:extLst>
  </p:cSld>
  <p:clrMapOvr>
    <a:masterClrMapping/>
  </p:clrMapOvr>
  <mc:AlternateContent xmlns:mc="http://schemas.openxmlformats.org/markup-compatibility/2006" xmlns:p14="http://schemas.microsoft.com/office/powerpoint/2010/main">
    <mc:Choice Requires="p14">
      <p:transition spd="slow" p14:dur="1300" advTm="4699">
        <p14:pan dir="u"/>
      </p:transition>
    </mc:Choice>
    <mc:Fallback xmlns="">
      <p:transition spd="slow" advTm="4699">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B5D2F6-F406-4DF1-BFE8-158075256D4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B29C1BD-C388-4102-AE41-480DAF4224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47A035-91BF-47C5-9552-2D3F879199ED}"/>
              </a:ext>
            </a:extLst>
          </p:cNvPr>
          <p:cNvSpPr>
            <a:spLocks noGrp="1"/>
          </p:cNvSpPr>
          <p:nvPr>
            <p:ph type="dt" sz="half" idx="10"/>
          </p:nvPr>
        </p:nvSpPr>
        <p:spPr/>
        <p:txBody>
          <a:bodyPr/>
          <a:lstStyle/>
          <a:p>
            <a:fld id="{9E889E4F-45B2-484A-B526-8BE5D7E232FB}" type="datetimeFigureOut">
              <a:rPr lang="en-IN" smtClean="0"/>
              <a:t>11-09-2025</a:t>
            </a:fld>
            <a:endParaRPr lang="en-IN"/>
          </a:p>
        </p:txBody>
      </p:sp>
      <p:sp>
        <p:nvSpPr>
          <p:cNvPr id="5" name="Footer Placeholder 4">
            <a:extLst>
              <a:ext uri="{FF2B5EF4-FFF2-40B4-BE49-F238E27FC236}">
                <a16:creationId xmlns:a16="http://schemas.microsoft.com/office/drawing/2014/main" id="{0C8ACEDB-D527-4D81-BA5B-25B8A67978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640F20-1BF1-4FF7-8431-481C2A7567F6}"/>
              </a:ext>
            </a:extLst>
          </p:cNvPr>
          <p:cNvSpPr>
            <a:spLocks noGrp="1"/>
          </p:cNvSpPr>
          <p:nvPr>
            <p:ph type="sldNum" sz="quarter" idx="12"/>
          </p:nvPr>
        </p:nvSpPr>
        <p:spPr/>
        <p:txBody>
          <a:bodyPr/>
          <a:lstStyle/>
          <a:p>
            <a:fld id="{44C2F0D1-F201-413F-935B-5719BF31E5A1}" type="slidenum">
              <a:rPr lang="en-IN" smtClean="0"/>
              <a:t>‹#›</a:t>
            </a:fld>
            <a:endParaRPr lang="en-IN"/>
          </a:p>
        </p:txBody>
      </p:sp>
    </p:spTree>
    <p:extLst>
      <p:ext uri="{BB962C8B-B14F-4D97-AF65-F5344CB8AC3E}">
        <p14:creationId xmlns:p14="http://schemas.microsoft.com/office/powerpoint/2010/main" val="980189501"/>
      </p:ext>
    </p:extLst>
  </p:cSld>
  <p:clrMapOvr>
    <a:masterClrMapping/>
  </p:clrMapOvr>
  <mc:AlternateContent xmlns:mc="http://schemas.openxmlformats.org/markup-compatibility/2006" xmlns:p14="http://schemas.microsoft.com/office/powerpoint/2010/main">
    <mc:Choice Requires="p14">
      <p:transition spd="slow" p14:dur="1300" advTm="4699">
        <p14:pan dir="u"/>
      </p:transition>
    </mc:Choice>
    <mc:Fallback xmlns="">
      <p:transition spd="slow" advTm="4699">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6D8160-1CE6-41D5-A74A-06ED1EBBEF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AB40183-40A5-44D5-9FAF-4726D72427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A6803B-5D1B-456E-B980-0829FAB00F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889E4F-45B2-484A-B526-8BE5D7E232FB}" type="datetimeFigureOut">
              <a:rPr lang="en-IN" smtClean="0"/>
              <a:t>11-09-2025</a:t>
            </a:fld>
            <a:endParaRPr lang="en-IN"/>
          </a:p>
        </p:txBody>
      </p:sp>
      <p:sp>
        <p:nvSpPr>
          <p:cNvPr id="5" name="Footer Placeholder 4">
            <a:extLst>
              <a:ext uri="{FF2B5EF4-FFF2-40B4-BE49-F238E27FC236}">
                <a16:creationId xmlns:a16="http://schemas.microsoft.com/office/drawing/2014/main" id="{D5226DAA-8975-42E7-B84F-B513700C19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03352E1-91A2-4124-8A0E-1A2E23F723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C2F0D1-F201-413F-935B-5719BF31E5A1}" type="slidenum">
              <a:rPr lang="en-IN" smtClean="0"/>
              <a:t>‹#›</a:t>
            </a:fld>
            <a:endParaRPr lang="en-IN"/>
          </a:p>
        </p:txBody>
      </p:sp>
    </p:spTree>
    <p:extLst>
      <p:ext uri="{BB962C8B-B14F-4D97-AF65-F5344CB8AC3E}">
        <p14:creationId xmlns:p14="http://schemas.microsoft.com/office/powerpoint/2010/main" val="8533708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300" advTm="4699">
        <p14:pan dir="u"/>
      </p:transition>
    </mc:Choice>
    <mc:Fallback xmlns="">
      <p:transition spd="slow" advTm="4699">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1">
            <a:extLst>
              <a:ext uri="{FF2B5EF4-FFF2-40B4-BE49-F238E27FC236}">
                <a16:creationId xmlns:a16="http://schemas.microsoft.com/office/drawing/2014/main" id="{BFA6E795-DEAD-4D0F-A35E-8FA177F094AF}"/>
              </a:ext>
            </a:extLst>
          </p:cNvPr>
          <p:cNvSpPr txBox="1">
            <a:spLocks/>
          </p:cNvSpPr>
          <p:nvPr/>
        </p:nvSpPr>
        <p:spPr>
          <a:xfrm>
            <a:off x="335360" y="6256093"/>
            <a:ext cx="2057400" cy="365129"/>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14E78E-0072-4384-A571-9DA0FFFD18C0}" type="datetime3">
              <a:rPr lang="en-US" smtClean="0"/>
              <a:pPr/>
              <a:t>11 September 2025</a:t>
            </a:fld>
            <a:endParaRPr lang="en-US" dirty="0"/>
          </a:p>
        </p:txBody>
      </p:sp>
      <p:sp>
        <p:nvSpPr>
          <p:cNvPr id="3" name="Title 1">
            <a:extLst>
              <a:ext uri="{FF2B5EF4-FFF2-40B4-BE49-F238E27FC236}">
                <a16:creationId xmlns:a16="http://schemas.microsoft.com/office/drawing/2014/main" id="{E691D8FB-1024-4128-9726-41B9F10E6CC7}"/>
              </a:ext>
            </a:extLst>
          </p:cNvPr>
          <p:cNvSpPr txBox="1">
            <a:spLocks/>
          </p:cNvSpPr>
          <p:nvPr/>
        </p:nvSpPr>
        <p:spPr>
          <a:xfrm>
            <a:off x="577970" y="2190749"/>
            <a:ext cx="10621368" cy="2025983"/>
          </a:xfrm>
          <a:prstGeom prst="rect">
            <a:avLst/>
          </a:prstGeom>
          <a:effectLst>
            <a:outerShdw blurRad="152400" dist="317500" dir="5400000" sx="90000" sy="-19000" rotWithShape="0">
              <a:prstClr val="black">
                <a:alpha val="15000"/>
              </a:prstClr>
            </a:outerShdw>
          </a:effectLst>
        </p:spPr>
        <p:txBody>
          <a:bodyPr vert="horz" lIns="92162" tIns="46076" rIns="92162" bIns="46076" rtlCol="0" anchor="ctr" anchorCtr="1">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200" dirty="0">
                <a:solidFill>
                  <a:srgbClr val="0066CC"/>
                </a:solidFill>
                <a:effectLst>
                  <a:outerShdw dist="17962" dir="2700000">
                    <a:srgbClr val="000000"/>
                  </a:outerShdw>
                </a:effectLst>
                <a:latin typeface="Times New Roman" pitchFamily="18" charset="0"/>
                <a:cs typeface="Times New Roman" pitchFamily="18" charset="0"/>
              </a:rPr>
              <a:t>Department of Computer Engineering</a:t>
            </a:r>
          </a:p>
          <a:p>
            <a:pPr algn="ctr"/>
            <a:endParaRPr lang="en-US" sz="2200" dirty="0">
              <a:solidFill>
                <a:srgbClr val="0066CC"/>
              </a:solidFill>
              <a:effectLst>
                <a:outerShdw dist="17962" dir="2700000">
                  <a:srgbClr val="000000"/>
                </a:outerShdw>
              </a:effectLst>
              <a:latin typeface="Times New Roman" pitchFamily="18" charset="0"/>
              <a:cs typeface="Times New Roman" pitchFamily="18" charset="0"/>
            </a:endParaRPr>
          </a:p>
          <a:p>
            <a:pPr algn="ctr"/>
            <a:r>
              <a:rPr lang="en-US" sz="2200" dirty="0">
                <a:solidFill>
                  <a:srgbClr val="0066CC"/>
                </a:solidFill>
                <a:effectLst>
                  <a:outerShdw dist="17962" dir="2700000">
                    <a:srgbClr val="000000"/>
                  </a:outerShdw>
                </a:effectLst>
                <a:latin typeface="Times New Roman" pitchFamily="18" charset="0"/>
                <a:cs typeface="Times New Roman" pitchFamily="18" charset="0"/>
              </a:rPr>
              <a:t>A  Seminar  Presentation</a:t>
            </a:r>
            <a:br>
              <a:rPr lang="en-US" sz="2200" dirty="0">
                <a:solidFill>
                  <a:srgbClr val="0066CC"/>
                </a:solidFill>
                <a:effectLst>
                  <a:outerShdw dist="17962" dir="2700000">
                    <a:srgbClr val="000000"/>
                  </a:outerShdw>
                </a:effectLst>
                <a:latin typeface="Times New Roman" pitchFamily="18" charset="0"/>
                <a:cs typeface="Times New Roman" pitchFamily="18" charset="0"/>
              </a:rPr>
            </a:br>
            <a:r>
              <a:rPr lang="en-US" sz="2200" dirty="0">
                <a:solidFill>
                  <a:srgbClr val="0066CC"/>
                </a:solidFill>
                <a:effectLst>
                  <a:outerShdw dist="17962" dir="2700000">
                    <a:srgbClr val="000000"/>
                  </a:outerShdw>
                </a:effectLst>
                <a:latin typeface="Times New Roman" pitchFamily="18" charset="0"/>
                <a:cs typeface="Times New Roman" pitchFamily="18" charset="0"/>
              </a:rPr>
              <a:t>on</a:t>
            </a:r>
            <a:br>
              <a:rPr lang="en-US" sz="2200" b="1" dirty="0">
                <a:solidFill>
                  <a:srgbClr val="0066CC"/>
                </a:solidFill>
                <a:effectLst>
                  <a:outerShdw dist="17962" dir="2700000">
                    <a:srgbClr val="000000"/>
                  </a:outerShdw>
                </a:effectLst>
                <a:latin typeface="Times New Roman" pitchFamily="18" charset="0"/>
                <a:cs typeface="Times New Roman" pitchFamily="18" charset="0"/>
              </a:rPr>
            </a:br>
            <a:br>
              <a:rPr lang="en-US" sz="2800" b="1" dirty="0">
                <a:solidFill>
                  <a:srgbClr val="0066CC"/>
                </a:solidFill>
                <a:effectLst>
                  <a:outerShdw dist="17962" dir="2700000">
                    <a:srgbClr val="000000"/>
                  </a:outerShdw>
                </a:effectLst>
                <a:latin typeface="Arial Narrow" pitchFamily="34"/>
              </a:rPr>
            </a:br>
            <a:r>
              <a:rPr lang="en-US" sz="2800" dirty="0">
                <a:solidFill>
                  <a:srgbClr val="FF0000"/>
                </a:solidFill>
                <a:effectLst>
                  <a:outerShdw dist="17962" dir="2700000">
                    <a:srgbClr val="000000"/>
                  </a:outerShdw>
                </a:effectLst>
                <a:latin typeface="Arial Narrow" pitchFamily="34"/>
              </a:rPr>
              <a:t>Topic Name: Brain-Computer Interfaces (BCI) – Neural links for direct communication.</a:t>
            </a:r>
            <a:endParaRPr lang="en-US" sz="2800" dirty="0">
              <a:solidFill>
                <a:srgbClr val="FF0000"/>
              </a:solidFill>
            </a:endParaRPr>
          </a:p>
        </p:txBody>
      </p:sp>
      <p:sp>
        <p:nvSpPr>
          <p:cNvPr id="4" name="Subtitle 2">
            <a:extLst>
              <a:ext uri="{FF2B5EF4-FFF2-40B4-BE49-F238E27FC236}">
                <a16:creationId xmlns:a16="http://schemas.microsoft.com/office/drawing/2014/main" id="{44E48484-D34A-45E5-8D12-2A4501B57E89}"/>
              </a:ext>
            </a:extLst>
          </p:cNvPr>
          <p:cNvSpPr/>
          <p:nvPr/>
        </p:nvSpPr>
        <p:spPr>
          <a:xfrm>
            <a:off x="643460" y="4611612"/>
            <a:ext cx="4624723" cy="1368503"/>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a:noFill/>
            <a:prstDash val="solid"/>
          </a:ln>
        </p:spPr>
        <p:txBody>
          <a:bodyPr vert="horz" wrap="square" lIns="90004" tIns="46798" rIns="90004" bIns="46798" anchor="t" anchorCtr="0" compatLnSpc="1"/>
          <a:lstStyle/>
          <a:p>
            <a:pPr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2400" b="1" dirty="0">
                <a:solidFill>
                  <a:schemeClr val="tx2"/>
                </a:solidFill>
                <a:latin typeface="Times New Roman" pitchFamily="18" charset="0"/>
                <a:ea typeface="WenQuanYi Zen Hei Sharp" pitchFamily="2"/>
                <a:cs typeface="Times New Roman" pitchFamily="18" charset="0"/>
              </a:rPr>
              <a:t>Guided by: </a:t>
            </a:r>
          </a:p>
          <a:p>
            <a:pPr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2400" b="1" kern="0" dirty="0" err="1">
                <a:solidFill>
                  <a:schemeClr val="tx2"/>
                </a:solidFill>
                <a:latin typeface="Times New Roman" pitchFamily="18" charset="0"/>
                <a:cs typeface="Times New Roman" pitchFamily="18" charset="0"/>
              </a:rPr>
              <a:t>Prof.Jayashri</a:t>
            </a:r>
            <a:r>
              <a:rPr lang="en-US" sz="2400" b="1" kern="0" dirty="0">
                <a:solidFill>
                  <a:schemeClr val="tx2"/>
                </a:solidFill>
                <a:latin typeface="Times New Roman" pitchFamily="18" charset="0"/>
                <a:cs typeface="Times New Roman" pitchFamily="18" charset="0"/>
              </a:rPr>
              <a:t> Waman</a:t>
            </a:r>
          </a:p>
          <a:p>
            <a:pPr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endParaRPr lang="en-US" sz="2400" b="1" dirty="0">
              <a:solidFill>
                <a:schemeClr val="tx2"/>
              </a:solidFill>
              <a:latin typeface="Times New Roman" pitchFamily="18" charset="0"/>
              <a:ea typeface="WenQuanYi Zen Hei Sharp" pitchFamily="2"/>
              <a:cs typeface="Times New Roman" pitchFamily="18" charset="0"/>
            </a:endParaRPr>
          </a:p>
          <a:p>
            <a:pPr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endParaRPr lang="en-US" sz="2400" b="1" dirty="0">
              <a:solidFill>
                <a:srgbClr val="009999"/>
              </a:solidFill>
              <a:latin typeface="Arial" pitchFamily="34"/>
              <a:ea typeface="WenQuanYi Zen Hei Sharp" pitchFamily="2"/>
              <a:cs typeface="Lohit Devanagari" pitchFamily="2"/>
            </a:endParaRPr>
          </a:p>
        </p:txBody>
      </p:sp>
      <p:sp>
        <p:nvSpPr>
          <p:cNvPr id="5" name="Subtitle 2">
            <a:extLst>
              <a:ext uri="{FF2B5EF4-FFF2-40B4-BE49-F238E27FC236}">
                <a16:creationId xmlns:a16="http://schemas.microsoft.com/office/drawing/2014/main" id="{6F240FB5-C045-4AC3-9AA6-1688634A3BBB}"/>
              </a:ext>
            </a:extLst>
          </p:cNvPr>
          <p:cNvSpPr/>
          <p:nvPr/>
        </p:nvSpPr>
        <p:spPr>
          <a:xfrm>
            <a:off x="7368309" y="4527934"/>
            <a:ext cx="4387967" cy="1641860"/>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a:noFill/>
            <a:prstDash val="solid"/>
          </a:ln>
        </p:spPr>
        <p:txBody>
          <a:bodyPr vert="horz" wrap="square" lIns="90004" tIns="46798" rIns="90004" bIns="46798" anchor="t" anchorCtr="0" compatLnSpc="1"/>
          <a:lstStyle/>
          <a:p>
            <a:pPr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2400" b="1" dirty="0">
                <a:solidFill>
                  <a:schemeClr val="tx2"/>
                </a:solidFill>
                <a:latin typeface="Times New Roman" pitchFamily="18" charset="0"/>
                <a:ea typeface="WenQuanYi Zen Hei Sharp" pitchFamily="2"/>
                <a:cs typeface="Times New Roman" pitchFamily="18" charset="0"/>
              </a:rPr>
              <a:t>Presented by</a:t>
            </a:r>
          </a:p>
          <a:p>
            <a:pPr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2400" b="1" dirty="0">
                <a:solidFill>
                  <a:schemeClr val="tx2"/>
                </a:solidFill>
                <a:latin typeface="Times New Roman" pitchFamily="18" charset="0"/>
                <a:ea typeface="WenQuanYi Zen Hei Sharp" pitchFamily="2"/>
                <a:cs typeface="Times New Roman" pitchFamily="18" charset="0"/>
              </a:rPr>
              <a:t>Name : Kartik Jadhav</a:t>
            </a:r>
          </a:p>
          <a:p>
            <a:pPr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2400" b="1" dirty="0">
                <a:solidFill>
                  <a:schemeClr val="tx2"/>
                </a:solidFill>
                <a:latin typeface="Times New Roman" pitchFamily="18" charset="0"/>
                <a:ea typeface="WenQuanYi Zen Hei Sharp" pitchFamily="2"/>
                <a:cs typeface="Times New Roman" pitchFamily="18" charset="0"/>
              </a:rPr>
              <a:t>Roll No : 04</a:t>
            </a:r>
          </a:p>
        </p:txBody>
      </p:sp>
      <p:sp>
        <p:nvSpPr>
          <p:cNvPr id="8" name="Slide Number Placeholder 9">
            <a:extLst>
              <a:ext uri="{FF2B5EF4-FFF2-40B4-BE49-F238E27FC236}">
                <a16:creationId xmlns:a16="http://schemas.microsoft.com/office/drawing/2014/main" id="{D1E028CD-91E6-4998-8B44-E9B5185FF0CD}"/>
              </a:ext>
            </a:extLst>
          </p:cNvPr>
          <p:cNvSpPr txBox="1">
            <a:spLocks/>
          </p:cNvSpPr>
          <p:nvPr/>
        </p:nvSpPr>
        <p:spPr>
          <a:xfrm>
            <a:off x="9840416" y="6256093"/>
            <a:ext cx="2057400" cy="36512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41546D6-25D2-4E08-B705-3CDDCADBC19E}" type="slidenum">
              <a:rPr lang="en-US" smtClean="0"/>
              <a:pPr/>
              <a:t>1</a:t>
            </a:fld>
            <a:endParaRPr lang="en-US" dirty="0"/>
          </a:p>
        </p:txBody>
      </p:sp>
      <p:pic>
        <p:nvPicPr>
          <p:cNvPr id="11" name="Picture 10"/>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3460" y="336431"/>
            <a:ext cx="10555878" cy="1655568"/>
          </a:xfrm>
          <a:prstGeom prst="rect">
            <a:avLst/>
          </a:prstGeom>
          <a:noFill/>
          <a:ln>
            <a:noFill/>
          </a:ln>
        </p:spPr>
      </p:pic>
    </p:spTree>
    <p:extLst>
      <p:ext uri="{BB962C8B-B14F-4D97-AF65-F5344CB8AC3E}">
        <p14:creationId xmlns:p14="http://schemas.microsoft.com/office/powerpoint/2010/main" val="1298921392"/>
      </p:ext>
    </p:extLst>
  </p:cSld>
  <p:clrMapOvr>
    <a:masterClrMapping/>
  </p:clrMapOvr>
  <mc:AlternateContent xmlns:mc="http://schemas.openxmlformats.org/markup-compatibility/2006" xmlns:p14="http://schemas.microsoft.com/office/powerpoint/2010/main">
    <mc:Choice Requires="p14">
      <p:transition spd="slow" p14:dur="1300" advTm="4699">
        <p14:pan dir="u"/>
      </p:transition>
    </mc:Choice>
    <mc:Fallback xmlns="">
      <p:transition spd="slow" advTm="4699">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9B4EE-D010-43C8-9192-BCB688DA8F66}"/>
              </a:ext>
            </a:extLst>
          </p:cNvPr>
          <p:cNvSpPr>
            <a:spLocks noGrp="1"/>
          </p:cNvSpPr>
          <p:nvPr>
            <p:ph type="title"/>
          </p:nvPr>
        </p:nvSpPr>
        <p:spPr/>
        <p:txBody>
          <a:bodyPr/>
          <a:lstStyle/>
          <a:p>
            <a:pPr algn="ctr"/>
            <a:r>
              <a:rPr lang="en-US" sz="4800" b="1" dirty="0">
                <a:solidFill>
                  <a:srgbClr val="0066CC"/>
                </a:solidFill>
                <a:effectLst>
                  <a:outerShdw dist="17962" dir="2700000">
                    <a:srgbClr val="000000"/>
                  </a:outerShdw>
                </a:effectLst>
                <a:latin typeface="Arial Narrow" pitchFamily="34"/>
              </a:rPr>
              <a:t> </a:t>
            </a:r>
            <a:r>
              <a:rPr lang="en-US" sz="4400" b="1" dirty="0">
                <a:solidFill>
                  <a:srgbClr val="336699"/>
                </a:solidFill>
                <a:effectLst>
                  <a:outerShdw dist="17962" dir="2700000">
                    <a:srgbClr val="000000"/>
                  </a:outerShdw>
                </a:effectLst>
              </a:rPr>
              <a:t>Agenda</a:t>
            </a:r>
            <a:endParaRPr lang="en-IN" dirty="0"/>
          </a:p>
        </p:txBody>
      </p:sp>
      <p:sp>
        <p:nvSpPr>
          <p:cNvPr id="3" name="Content Placeholder 2">
            <a:extLst>
              <a:ext uri="{FF2B5EF4-FFF2-40B4-BE49-F238E27FC236}">
                <a16:creationId xmlns:a16="http://schemas.microsoft.com/office/drawing/2014/main" id="{139DA305-C99A-43FA-809C-796936928318}"/>
              </a:ext>
            </a:extLst>
          </p:cNvPr>
          <p:cNvSpPr>
            <a:spLocks noGrp="1"/>
          </p:cNvSpPr>
          <p:nvPr>
            <p:ph idx="1"/>
          </p:nvPr>
        </p:nvSpPr>
        <p:spPr>
          <a:xfrm>
            <a:off x="696532" y="1690688"/>
            <a:ext cx="10515600" cy="4551931"/>
          </a:xfrm>
        </p:spPr>
        <p:txBody>
          <a:bodyPr>
            <a:normAutofit fontScale="92500" lnSpcReduction="20000"/>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Introduction</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Literature Survey</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Problem Statement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Objectives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Motivation</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System Architecture</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Methodology</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Pros &amp; Cons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Application</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Conclusion &amp; Future Scope</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References</a:t>
            </a:r>
          </a:p>
          <a:p>
            <a:pPr marL="0" indent="0">
              <a:buNone/>
            </a:pPr>
            <a:endParaRPr lang="en-IN" dirty="0"/>
          </a:p>
        </p:txBody>
      </p:sp>
    </p:spTree>
    <p:extLst>
      <p:ext uri="{BB962C8B-B14F-4D97-AF65-F5344CB8AC3E}">
        <p14:creationId xmlns:p14="http://schemas.microsoft.com/office/powerpoint/2010/main" val="621744206"/>
      </p:ext>
    </p:extLst>
  </p:cSld>
  <p:clrMapOvr>
    <a:masterClrMapping/>
  </p:clrMapOvr>
  <mc:AlternateContent xmlns:mc="http://schemas.openxmlformats.org/markup-compatibility/2006" xmlns:p14="http://schemas.microsoft.com/office/powerpoint/2010/main">
    <mc:Choice Requires="p14">
      <p:transition spd="slow" p14:dur="1300" advTm="4699">
        <p14:pan dir="u"/>
      </p:transition>
    </mc:Choice>
    <mc:Fallback xmlns="">
      <p:transition spd="slow" advTm="4699">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65CC9-4A7A-CA6D-502B-171427D8EEDC}"/>
              </a:ext>
            </a:extLst>
          </p:cNvPr>
          <p:cNvSpPr>
            <a:spLocks noGrp="1"/>
          </p:cNvSpPr>
          <p:nvPr>
            <p:ph type="title"/>
          </p:nvPr>
        </p:nvSpPr>
        <p:spPr>
          <a:xfrm>
            <a:off x="838200" y="365126"/>
            <a:ext cx="10515600" cy="859376"/>
          </a:xfrm>
        </p:spPr>
        <p:txBody>
          <a:bodyPr/>
          <a:lstStyle/>
          <a:p>
            <a:pPr algn="ctr"/>
            <a:r>
              <a:rPr lang="en-US" sz="4400" b="1" dirty="0">
                <a:solidFill>
                  <a:srgbClr val="336699"/>
                </a:solidFill>
                <a:effectLst>
                  <a:outerShdw dist="17962" dir="2700000">
                    <a:srgbClr val="000000"/>
                  </a:outerShdw>
                </a:effectLst>
                <a:cs typeface="Times New Roman" pitchFamily="18" charset="0"/>
              </a:rPr>
              <a:t>Introduction</a:t>
            </a:r>
            <a:endParaRPr lang="en-IN" dirty="0"/>
          </a:p>
        </p:txBody>
      </p:sp>
      <p:sp>
        <p:nvSpPr>
          <p:cNvPr id="3" name="Content Placeholder 2">
            <a:extLst>
              <a:ext uri="{FF2B5EF4-FFF2-40B4-BE49-F238E27FC236}">
                <a16:creationId xmlns:a16="http://schemas.microsoft.com/office/drawing/2014/main" id="{0AB4B562-78C3-94CA-A8AA-12AD4CC8621E}"/>
              </a:ext>
            </a:extLst>
          </p:cNvPr>
          <p:cNvSpPr>
            <a:spLocks noGrp="1"/>
          </p:cNvSpPr>
          <p:nvPr>
            <p:ph idx="1"/>
          </p:nvPr>
        </p:nvSpPr>
        <p:spPr>
          <a:xfrm>
            <a:off x="838200" y="1028700"/>
            <a:ext cx="10515600" cy="5248442"/>
          </a:xfrm>
        </p:spPr>
        <p:txBody>
          <a:bodyPr>
            <a:normAutofit fontScale="92500" lnSpcReduction="20000"/>
          </a:bodyPr>
          <a:lstStyle/>
          <a:p>
            <a:pPr marL="0" indent="0" algn="ctr">
              <a:buNone/>
            </a:pPr>
            <a:endParaRPr lang="en-US" sz="2400" dirty="0"/>
          </a:p>
          <a:p>
            <a:pPr marL="0" indent="0">
              <a:lnSpc>
                <a:spcPct val="160000"/>
              </a:lnSpc>
              <a:buNone/>
            </a:pPr>
            <a:r>
              <a:rPr lang="en-US" sz="2400" dirty="0"/>
              <a:t>A Brain–Computer Interface (BCI) is an advanced communication system that enables direct interaction between the human brain and external devices without the need for traditional physical movements. By capturing and interpreting brain signals, BCIs allow individuals to control computers, prosthetics, or other machines simply through thought. This technology has gained significant importance in healthcare, assisting people with disabilities in regaining mobility and communication, while also opening new possibilities in fields like neuroscience, artificial intelligence, and human–machine interaction. As a rapidly evolving domain, BCIs represent a bridge between human cognition and digital innovation, bringing us closer to a future where mind and machine work seamlessly together.</a:t>
            </a:r>
            <a:endParaRPr lang="en-IN" sz="2400" dirty="0"/>
          </a:p>
        </p:txBody>
      </p:sp>
    </p:spTree>
    <p:extLst>
      <p:ext uri="{BB962C8B-B14F-4D97-AF65-F5344CB8AC3E}">
        <p14:creationId xmlns:p14="http://schemas.microsoft.com/office/powerpoint/2010/main" val="1459119033"/>
      </p:ext>
    </p:extLst>
  </p:cSld>
  <p:clrMapOvr>
    <a:masterClrMapping/>
  </p:clrMapOvr>
  <mc:AlternateContent xmlns:mc="http://schemas.openxmlformats.org/markup-compatibility/2006" xmlns:p14="http://schemas.microsoft.com/office/powerpoint/2010/main">
    <mc:Choice Requires="p14">
      <p:transition spd="slow" p14:dur="1300" advTm="4699">
        <p14:pan dir="u"/>
      </p:transition>
    </mc:Choice>
    <mc:Fallback xmlns="">
      <p:transition spd="slow" advTm="4699">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F2E4DB9B-6AD8-4256-94ED-D522F32D827B}"/>
              </a:ext>
            </a:extLst>
          </p:cNvPr>
          <p:cNvSpPr/>
          <p:nvPr/>
        </p:nvSpPr>
        <p:spPr>
          <a:xfrm>
            <a:off x="2362084" y="152284"/>
            <a:ext cx="7772400" cy="665863"/>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a:noFill/>
            <a:prstDash val="solid"/>
          </a:ln>
        </p:spPr>
        <p:txBody>
          <a:bodyPr vert="horz" wrap="square" lIns="90004" tIns="46798" rIns="90004" bIns="46798" anchor="t" anchorCtr="0" compatLnSpc="0"/>
          <a:lstStyle/>
          <a:p>
            <a:pPr hangingPunct="0">
              <a:defRPr sz="1800" b="0" i="0" u="none" strike="noStrike" kern="0" cap="none" spc="0" baseline="0">
                <a:solidFill>
                  <a:srgbClr val="000000"/>
                </a:solidFill>
                <a:uFillTx/>
              </a:defRPr>
            </a:pPr>
            <a:endParaRPr lang="en-US" sz="2400">
              <a:solidFill>
                <a:srgbClr val="000000"/>
              </a:solidFill>
              <a:latin typeface="Liberation Serif" pitchFamily="18"/>
              <a:ea typeface="DejaVu Sans" pitchFamily="2"/>
              <a:cs typeface="DejaVu Sans" pitchFamily="2"/>
            </a:endParaRPr>
          </a:p>
        </p:txBody>
      </p:sp>
      <p:sp>
        <p:nvSpPr>
          <p:cNvPr id="3" name="Date Placeholder 10">
            <a:extLst>
              <a:ext uri="{FF2B5EF4-FFF2-40B4-BE49-F238E27FC236}">
                <a16:creationId xmlns:a16="http://schemas.microsoft.com/office/drawing/2014/main" id="{E4333874-B67A-402D-8CF4-E88139001E94}"/>
              </a:ext>
            </a:extLst>
          </p:cNvPr>
          <p:cNvSpPr txBox="1">
            <a:spLocks/>
          </p:cNvSpPr>
          <p:nvPr/>
        </p:nvSpPr>
        <p:spPr>
          <a:xfrm>
            <a:off x="296634" y="6366495"/>
            <a:ext cx="2057400" cy="365129"/>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44DBA7-D25C-44C6-899B-E816BDB7D4DC}" type="datetime3">
              <a:rPr lang="en-US" smtClean="0"/>
              <a:pPr/>
              <a:t>11 September 2025</a:t>
            </a:fld>
            <a:endParaRPr lang="en-US" dirty="0"/>
          </a:p>
        </p:txBody>
      </p:sp>
      <p:sp>
        <p:nvSpPr>
          <p:cNvPr id="4" name="Title 4">
            <a:extLst>
              <a:ext uri="{FF2B5EF4-FFF2-40B4-BE49-F238E27FC236}">
                <a16:creationId xmlns:a16="http://schemas.microsoft.com/office/drawing/2014/main" id="{55A218E7-3968-40C5-8F63-4D316B10ADCD}"/>
              </a:ext>
            </a:extLst>
          </p:cNvPr>
          <p:cNvSpPr txBox="1">
            <a:spLocks/>
          </p:cNvSpPr>
          <p:nvPr/>
        </p:nvSpPr>
        <p:spPr>
          <a:xfrm>
            <a:off x="1524000" y="-27384"/>
            <a:ext cx="9144000" cy="962026"/>
          </a:xfrm>
          <a:prstGeom prst="rect">
            <a:avLst/>
          </a:prstGeom>
        </p:spPr>
        <p:txBody>
          <a:bodyPr vert="horz" lIns="92162" tIns="46076" rIns="92162" bIns="46076" rtlCol="0" anchor="ctr" anchorCtr="1">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hangingPunct="0">
              <a:lnSpc>
                <a:spcPct val="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dirty="0">
                <a:solidFill>
                  <a:srgbClr val="336699"/>
                </a:solidFill>
                <a:effectLst>
                  <a:outerShdw dist="17962" dir="2700000">
                    <a:srgbClr val="000000"/>
                  </a:outerShdw>
                </a:effectLst>
                <a:cs typeface="Times New Roman" pitchFamily="18" charset="0"/>
              </a:rPr>
              <a:t>Literature Survey</a:t>
            </a:r>
          </a:p>
        </p:txBody>
      </p:sp>
      <p:sp>
        <p:nvSpPr>
          <p:cNvPr id="5" name="Slide Number Placeholder 6">
            <a:extLst>
              <a:ext uri="{FF2B5EF4-FFF2-40B4-BE49-F238E27FC236}">
                <a16:creationId xmlns:a16="http://schemas.microsoft.com/office/drawing/2014/main" id="{94516E0D-8874-4F2F-8B03-B89612855E96}"/>
              </a:ext>
            </a:extLst>
          </p:cNvPr>
          <p:cNvSpPr txBox="1"/>
          <p:nvPr/>
        </p:nvSpPr>
        <p:spPr>
          <a:xfrm>
            <a:off x="9768408" y="6356352"/>
            <a:ext cx="2057400" cy="365129"/>
          </a:xfrm>
          <a:prstGeom prst="rect">
            <a:avLst/>
          </a:prstGeom>
          <a:noFill/>
          <a:ln>
            <a:noFill/>
          </a:ln>
        </p:spPr>
        <p:txBody>
          <a:bodyPr vert="horz" wrap="square" lIns="91440" tIns="45720" rIns="91440" bIns="45720" anchor="ctr" anchorCtr="0" compatLnSpc="1"/>
          <a:lstStyle/>
          <a:p>
            <a:pPr algn="r">
              <a:defRPr sz="1800" b="0" i="0" u="none" strike="noStrike" kern="0" cap="none" spc="0" baseline="0">
                <a:solidFill>
                  <a:srgbClr val="000000"/>
                </a:solidFill>
                <a:uFillTx/>
              </a:defRPr>
            </a:pPr>
            <a:endParaRPr lang="en-US" sz="1200" dirty="0">
              <a:solidFill>
                <a:srgbClr val="898989"/>
              </a:solidFill>
              <a:latin typeface="Calibri"/>
              <a:ea typeface=""/>
              <a:cs typeface=""/>
            </a:endParaRPr>
          </a:p>
        </p:txBody>
      </p:sp>
      <p:graphicFrame>
        <p:nvGraphicFramePr>
          <p:cNvPr id="6" name="Table 5">
            <a:extLst>
              <a:ext uri="{FF2B5EF4-FFF2-40B4-BE49-F238E27FC236}">
                <a16:creationId xmlns:a16="http://schemas.microsoft.com/office/drawing/2014/main" id="{5CDB8E0C-53DB-458D-BEC9-5294FAEABD4B}"/>
              </a:ext>
            </a:extLst>
          </p:cNvPr>
          <p:cNvGraphicFramePr>
            <a:graphicFrameLocks noGrp="1"/>
          </p:cNvGraphicFramePr>
          <p:nvPr>
            <p:extLst>
              <p:ext uri="{D42A27DB-BD31-4B8C-83A1-F6EECF244321}">
                <p14:modId xmlns:p14="http://schemas.microsoft.com/office/powerpoint/2010/main" val="1044726332"/>
              </p:ext>
            </p:extLst>
          </p:nvPr>
        </p:nvGraphicFramePr>
        <p:xfrm>
          <a:off x="296635" y="954928"/>
          <a:ext cx="11529173" cy="5435338"/>
        </p:xfrm>
        <a:graphic>
          <a:graphicData uri="http://schemas.openxmlformats.org/drawingml/2006/table">
            <a:tbl>
              <a:tblPr firstRow="1" bandRow="1">
                <a:tableStyleId>{616DA210-FB5B-4158-B5E0-FEB733F419BA}</a:tableStyleId>
              </a:tblPr>
              <a:tblGrid>
                <a:gridCol w="730530">
                  <a:extLst>
                    <a:ext uri="{9D8B030D-6E8A-4147-A177-3AD203B41FA5}">
                      <a16:colId xmlns:a16="http://schemas.microsoft.com/office/drawing/2014/main" val="20000"/>
                    </a:ext>
                  </a:extLst>
                </a:gridCol>
                <a:gridCol w="2467487">
                  <a:extLst>
                    <a:ext uri="{9D8B030D-6E8A-4147-A177-3AD203B41FA5}">
                      <a16:colId xmlns:a16="http://schemas.microsoft.com/office/drawing/2014/main" val="20001"/>
                    </a:ext>
                  </a:extLst>
                </a:gridCol>
                <a:gridCol w="1722165">
                  <a:extLst>
                    <a:ext uri="{9D8B030D-6E8A-4147-A177-3AD203B41FA5}">
                      <a16:colId xmlns:a16="http://schemas.microsoft.com/office/drawing/2014/main" val="20002"/>
                    </a:ext>
                  </a:extLst>
                </a:gridCol>
                <a:gridCol w="3688991">
                  <a:extLst>
                    <a:ext uri="{9D8B030D-6E8A-4147-A177-3AD203B41FA5}">
                      <a16:colId xmlns:a16="http://schemas.microsoft.com/office/drawing/2014/main" val="20003"/>
                    </a:ext>
                  </a:extLst>
                </a:gridCol>
                <a:gridCol w="2920000">
                  <a:extLst>
                    <a:ext uri="{9D8B030D-6E8A-4147-A177-3AD203B41FA5}">
                      <a16:colId xmlns:a16="http://schemas.microsoft.com/office/drawing/2014/main" val="20004"/>
                    </a:ext>
                  </a:extLst>
                </a:gridCol>
              </a:tblGrid>
              <a:tr h="647815">
                <a:tc>
                  <a:txBody>
                    <a:bodyPr/>
                    <a:lstStyle/>
                    <a:p>
                      <a:pPr algn="ctr"/>
                      <a:r>
                        <a:rPr lang="en-US" dirty="0"/>
                        <a:t>Sr. No</a:t>
                      </a:r>
                      <a:endParaRPr lang="en-US" b="1" dirty="0">
                        <a:latin typeface="Times New Roman" panose="02020603050405020304" pitchFamily="18" charset="0"/>
                        <a:cs typeface="Times New Roman" panose="02020603050405020304" pitchFamily="18" charset="0"/>
                      </a:endParaRPr>
                    </a:p>
                  </a:txBody>
                  <a:tcPr/>
                </a:tc>
                <a:tc>
                  <a:txBody>
                    <a:bodyPr/>
                    <a:lstStyle/>
                    <a:p>
                      <a:pPr algn="ctr"/>
                      <a:r>
                        <a:rPr lang="en-US" sz="1600" dirty="0"/>
                        <a:t>Paper and Author’s  Name</a:t>
                      </a:r>
                      <a:endParaRPr lang="en-US" sz="1600" b="1" dirty="0">
                        <a:latin typeface="Times New Roman" panose="02020603050405020304" pitchFamily="18" charset="0"/>
                        <a:cs typeface="Times New Roman" panose="02020603050405020304" pitchFamily="18" charset="0"/>
                      </a:endParaRPr>
                    </a:p>
                  </a:txBody>
                  <a:tcPr/>
                </a:tc>
                <a:tc>
                  <a:txBody>
                    <a:bodyPr/>
                    <a:lstStyle/>
                    <a:p>
                      <a:pPr algn="ctr"/>
                      <a:r>
                        <a:rPr lang="en-US" sz="1600" dirty="0"/>
                        <a:t>Publication &amp;</a:t>
                      </a:r>
                      <a:r>
                        <a:rPr lang="en-US" sz="1600" baseline="0" dirty="0"/>
                        <a:t> year</a:t>
                      </a:r>
                      <a:endParaRPr lang="en-US" sz="1600" b="1" dirty="0">
                        <a:latin typeface="Times New Roman" panose="02020603050405020304" pitchFamily="18" charset="0"/>
                        <a:cs typeface="Times New Roman" panose="02020603050405020304" pitchFamily="18" charset="0"/>
                      </a:endParaRPr>
                    </a:p>
                  </a:txBody>
                  <a:tcPr/>
                </a:tc>
                <a:tc>
                  <a:txBody>
                    <a:bodyPr/>
                    <a:lstStyle/>
                    <a:p>
                      <a:pPr algn="ctr"/>
                      <a:r>
                        <a:rPr lang="en-US" dirty="0"/>
                        <a:t>Description</a:t>
                      </a:r>
                      <a:endParaRPr lang="en-US" b="1" dirty="0">
                        <a:latin typeface="Times New Roman" panose="02020603050405020304" pitchFamily="18" charset="0"/>
                        <a:cs typeface="Times New Roman" panose="02020603050405020304" pitchFamily="18" charset="0"/>
                      </a:endParaRPr>
                    </a:p>
                  </a:txBody>
                  <a:tcPr/>
                </a:tc>
                <a:tc>
                  <a:txBody>
                    <a:bodyPr/>
                    <a:lstStyle/>
                    <a:p>
                      <a:pPr algn="ctr"/>
                      <a:r>
                        <a:rPr lang="en-US" dirty="0"/>
                        <a:t>Challenges</a:t>
                      </a:r>
                      <a:endParaRPr lang="en-US"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1572433">
                <a:tc>
                  <a:txBody>
                    <a:bodyPr/>
                    <a:lstStyle/>
                    <a:p>
                      <a:r>
                        <a:rPr lang="en-US" sz="1400" dirty="0">
                          <a:latin typeface="+mn-lt"/>
                        </a:rPr>
                        <a:t>1.</a:t>
                      </a:r>
                      <a:endParaRPr lang="en-US" sz="1400" dirty="0">
                        <a:latin typeface="+mn-lt"/>
                        <a:cs typeface="Times New Roman" panose="02020603050405020304" pitchFamily="18" charset="0"/>
                      </a:endParaRPr>
                    </a:p>
                  </a:txBody>
                  <a:tcPr/>
                </a:tc>
                <a:tc>
                  <a:txBody>
                    <a:bodyPr/>
                    <a:lstStyle/>
                    <a:p>
                      <a:pPr>
                        <a:buNone/>
                      </a:pPr>
                      <a:r>
                        <a:rPr lang="en-IN" dirty="0"/>
                        <a:t>J.R. Wolpaw, N. Birbaumer, D.McFarland, G.Pfurtscheller,</a:t>
                      </a:r>
                    </a:p>
                    <a:p>
                      <a:pPr>
                        <a:buNone/>
                      </a:pPr>
                      <a:r>
                        <a:rPr lang="en-IN" dirty="0"/>
                        <a:t>T.Vaughan</a:t>
                      </a:r>
                    </a:p>
                  </a:txBody>
                  <a:tcPr anchor="ctr"/>
                </a:tc>
                <a:tc>
                  <a:txBody>
                    <a:bodyPr/>
                    <a:lstStyle/>
                    <a:p>
                      <a:r>
                        <a:rPr lang="en-US" dirty="0"/>
                        <a:t>2002</a:t>
                      </a:r>
                      <a:endParaRPr lang="en-IN" dirty="0"/>
                    </a:p>
                  </a:txBody>
                  <a:tcPr anchor="ctr"/>
                </a:tc>
                <a:tc>
                  <a:txBody>
                    <a:bodyPr/>
                    <a:lstStyle/>
                    <a:p>
                      <a:r>
                        <a:rPr lang="en-US" dirty="0"/>
                        <a:t>Introduced the concept of BCI as a direct communication pathway between the brain and external devices, enabling control without muscle activity.</a:t>
                      </a:r>
                      <a:endParaRPr lang="en-IN" dirty="0"/>
                    </a:p>
                  </a:txBody>
                  <a:tcPr anchor="ctr"/>
                </a:tc>
                <a:tc>
                  <a:txBody>
                    <a:bodyPr/>
                    <a:lstStyle/>
                    <a:p>
                      <a:r>
                        <a:rPr lang="en-US" dirty="0"/>
                        <a:t>Low information transfer rate, requires extensive training.</a:t>
                      </a:r>
                      <a:endParaRPr lang="en-IN" dirty="0"/>
                    </a:p>
                  </a:txBody>
                  <a:tcPr anchor="ctr"/>
                </a:tc>
                <a:extLst>
                  <a:ext uri="{0D108BD9-81ED-4DB2-BD59-A6C34878D82A}">
                    <a16:rowId xmlns:a16="http://schemas.microsoft.com/office/drawing/2014/main" val="10001"/>
                  </a:ext>
                </a:extLst>
              </a:tr>
              <a:tr h="1607545">
                <a:tc>
                  <a:txBody>
                    <a:bodyPr/>
                    <a:lstStyle/>
                    <a:p>
                      <a:r>
                        <a:rPr lang="en-US" sz="1400" dirty="0">
                          <a:latin typeface="+mn-lt"/>
                        </a:rPr>
                        <a:t>2.</a:t>
                      </a:r>
                      <a:endParaRPr lang="en-US" sz="1400" dirty="0">
                        <a:latin typeface="+mn-lt"/>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kern="1200" dirty="0">
                          <a:solidFill>
                            <a:schemeClr val="tx1"/>
                          </a:solidFill>
                          <a:latin typeface="+mn-lt"/>
                          <a:ea typeface="+mn-ea"/>
                          <a:cs typeface="+mn-cs"/>
                        </a:rPr>
                        <a:t>L.F.Nicolas-Alonso,</a:t>
                      </a:r>
                    </a:p>
                    <a:p>
                      <a:pPr marL="0" marR="0" indent="0" algn="l" defTabSz="914400" rtl="0" eaLnBrk="1" fontAlgn="auto" latinLnBrk="0" hangingPunct="1">
                        <a:lnSpc>
                          <a:spcPct val="100000"/>
                        </a:lnSpc>
                        <a:spcBef>
                          <a:spcPts val="0"/>
                        </a:spcBef>
                        <a:spcAft>
                          <a:spcPts val="0"/>
                        </a:spcAft>
                        <a:buClrTx/>
                        <a:buSzTx/>
                        <a:buFontTx/>
                        <a:buNone/>
                        <a:tabLst/>
                        <a:defRPr/>
                      </a:pPr>
                      <a:r>
                        <a:rPr lang="en-IN" sz="1800" kern="1200" dirty="0">
                          <a:solidFill>
                            <a:schemeClr val="tx1"/>
                          </a:solidFill>
                          <a:latin typeface="+mn-lt"/>
                          <a:ea typeface="+mn-ea"/>
                          <a:cs typeface="+mn-cs"/>
                        </a:rPr>
                        <a:t>J.Gomez-Gil</a:t>
                      </a:r>
                      <a:endParaRPr lang="en-US" sz="1800" kern="1200" dirty="0">
                        <a:solidFill>
                          <a:schemeClr val="tx1"/>
                        </a:solidFill>
                        <a:latin typeface="+mn-lt"/>
                        <a:ea typeface="+mn-ea"/>
                        <a:cs typeface="+mn-cs"/>
                      </a:endParaRPr>
                    </a:p>
                  </a:txBody>
                  <a:tcPr/>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1600" dirty="0">
                          <a:latin typeface="+mn-lt"/>
                          <a:cs typeface="Times New Roman" panose="02020603050405020304" pitchFamily="18" charset="0"/>
                        </a:rPr>
                        <a:t>2012</a:t>
                      </a:r>
                    </a:p>
                  </a:txBody>
                  <a:tcPr/>
                </a:tc>
                <a:tc>
                  <a:txBody>
                    <a:bodyPr/>
                    <a:lstStyle/>
                    <a:p>
                      <a:pPr marL="0" algn="l" defTabSz="914400" rtl="0" eaLnBrk="1" latinLnBrk="0" hangingPunct="1">
                        <a:buNone/>
                      </a:pPr>
                      <a:r>
                        <a:rPr lang="en-US" sz="1800" kern="1200" dirty="0">
                          <a:solidFill>
                            <a:schemeClr val="tx1"/>
                          </a:solidFill>
                          <a:latin typeface="+mn-lt"/>
                          <a:ea typeface="+mn-ea"/>
                          <a:cs typeface="+mn-cs"/>
                        </a:rPr>
                        <a:t>Provided a comprehensive survey on a BCI technologies, highlighting applications in medical rehabilitation and assistive communication.</a:t>
                      </a:r>
                      <a:endParaRPr lang="en-IN" sz="1800" kern="1200" dirty="0">
                        <a:solidFill>
                          <a:schemeClr val="tx1"/>
                        </a:solidFill>
                        <a:latin typeface="+mn-lt"/>
                        <a:ea typeface="+mn-ea"/>
                        <a:cs typeface="+mn-cs"/>
                      </a:endParaRPr>
                    </a:p>
                  </a:txBody>
                  <a:tcPr anchor="ctr"/>
                </a:tc>
                <a:tc>
                  <a:txBody>
                    <a:bodyPr/>
                    <a:lstStyle/>
                    <a:p>
                      <a:r>
                        <a:rPr lang="en-US" dirty="0"/>
                        <a:t>Signal noise, low accuracy , high dependency on EEG devices. </a:t>
                      </a:r>
                      <a:endParaRPr lang="en-IN" dirty="0"/>
                    </a:p>
                  </a:txBody>
                  <a:tcPr anchor="ctr"/>
                </a:tc>
                <a:extLst>
                  <a:ext uri="{0D108BD9-81ED-4DB2-BD59-A6C34878D82A}">
                    <a16:rowId xmlns:a16="http://schemas.microsoft.com/office/drawing/2014/main" val="10002"/>
                  </a:ext>
                </a:extLst>
              </a:tr>
              <a:tr h="1607545">
                <a:tc>
                  <a:txBody>
                    <a:bodyPr/>
                    <a:lstStyle/>
                    <a:p>
                      <a:r>
                        <a:rPr lang="en-US" sz="1400" dirty="0">
                          <a:latin typeface="+mn-lt"/>
                          <a:cs typeface="Times New Roman" panose="02020603050405020304" pitchFamily="18" charset="0"/>
                        </a:rPr>
                        <a:t>3</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mn-lt"/>
                          <a:ea typeface="+mn-ea"/>
                          <a:cs typeface="+mn-cs"/>
                        </a:rPr>
                        <a:t>R. Chatterjee, </a:t>
                      </a:r>
                    </a:p>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mn-lt"/>
                          <a:ea typeface="+mn-ea"/>
                          <a:cs typeface="+mn-cs"/>
                        </a:rPr>
                        <a:t>T. Bandyopadhyay</a:t>
                      </a:r>
                    </a:p>
                  </a:txBody>
                  <a:tcPr/>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1600" dirty="0">
                          <a:latin typeface="+mn-lt"/>
                          <a:cs typeface="Times New Roman" panose="02020603050405020304" pitchFamily="18" charset="0"/>
                        </a:rPr>
                        <a:t>2016</a:t>
                      </a:r>
                    </a:p>
                  </a:txBody>
                  <a:tcPr/>
                </a:tc>
                <a:tc>
                  <a:txBody>
                    <a:bodyPr/>
                    <a:lstStyle/>
                    <a:p>
                      <a:pPr marL="0" algn="l" defTabSz="914400" rtl="0" eaLnBrk="1" latinLnBrk="0" hangingPunct="1">
                        <a:buNone/>
                      </a:pPr>
                      <a:r>
                        <a:rPr lang="en-IN" sz="1800" kern="1200" dirty="0">
                          <a:solidFill>
                            <a:schemeClr val="tx1"/>
                          </a:solidFill>
                          <a:latin typeface="+mn-lt"/>
                          <a:ea typeface="+mn-ea"/>
                          <a:cs typeface="+mn-cs"/>
                        </a:rPr>
                        <a:t>Proposed EEG – based BCI systems for motor imagery, focusing on real-time control of prosthetic devices.</a:t>
                      </a:r>
                    </a:p>
                  </a:txBody>
                  <a:tcPr anchor="ctr"/>
                </a:tc>
                <a:tc>
                  <a:txBody>
                    <a:bodyPr/>
                    <a:lstStyle/>
                    <a:p>
                      <a:r>
                        <a:rPr lang="en-IN" dirty="0"/>
                        <a:t>High processing time, difficulty in distinguishing complex brain signals.</a:t>
                      </a:r>
                    </a:p>
                  </a:txBody>
                  <a:tcPr anchor="ctr"/>
                </a:tc>
                <a:extLst>
                  <a:ext uri="{0D108BD9-81ED-4DB2-BD59-A6C34878D82A}">
                    <a16:rowId xmlns:a16="http://schemas.microsoft.com/office/drawing/2014/main" val="3573452575"/>
                  </a:ext>
                </a:extLst>
              </a:tr>
            </a:tbl>
          </a:graphicData>
        </a:graphic>
      </p:graphicFrame>
      <p:sp>
        <p:nvSpPr>
          <p:cNvPr id="7" name="Slide Number Placeholder 9">
            <a:extLst>
              <a:ext uri="{FF2B5EF4-FFF2-40B4-BE49-F238E27FC236}">
                <a16:creationId xmlns:a16="http://schemas.microsoft.com/office/drawing/2014/main" id="{6687A30B-C9C7-464B-A699-D57536075618}"/>
              </a:ext>
            </a:extLst>
          </p:cNvPr>
          <p:cNvSpPr txBox="1">
            <a:spLocks/>
          </p:cNvSpPr>
          <p:nvPr/>
        </p:nvSpPr>
        <p:spPr>
          <a:xfrm>
            <a:off x="9639300" y="6376638"/>
            <a:ext cx="2057400" cy="36512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41546D6-25D2-4E08-B705-3CDDCADBC19E}" type="slidenum">
              <a:rPr lang="en-US" smtClean="0"/>
              <a:pPr/>
              <a:t>4</a:t>
            </a:fld>
            <a:endParaRPr lang="en-US" dirty="0"/>
          </a:p>
        </p:txBody>
      </p:sp>
    </p:spTree>
    <p:extLst>
      <p:ext uri="{BB962C8B-B14F-4D97-AF65-F5344CB8AC3E}">
        <p14:creationId xmlns:p14="http://schemas.microsoft.com/office/powerpoint/2010/main" val="3999455397"/>
      </p:ext>
    </p:extLst>
  </p:cSld>
  <p:clrMapOvr>
    <a:masterClrMapping/>
  </p:clrMapOvr>
  <mc:AlternateContent xmlns:mc="http://schemas.openxmlformats.org/markup-compatibility/2006" xmlns:p14="http://schemas.microsoft.com/office/powerpoint/2010/main">
    <mc:Choice Requires="p14">
      <p:transition spd="slow" p14:dur="1300" advTm="4699">
        <p14:pan dir="u"/>
      </p:transition>
    </mc:Choice>
    <mc:Fallback xmlns="">
      <p:transition spd="slow" advTm="4699">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65CC9-4A7A-CA6D-502B-171427D8EEDC}"/>
              </a:ext>
            </a:extLst>
          </p:cNvPr>
          <p:cNvSpPr>
            <a:spLocks noGrp="1"/>
          </p:cNvSpPr>
          <p:nvPr>
            <p:ph type="title"/>
          </p:nvPr>
        </p:nvSpPr>
        <p:spPr>
          <a:xfrm>
            <a:off x="838200" y="365126"/>
            <a:ext cx="10515600" cy="859376"/>
          </a:xfrm>
        </p:spPr>
        <p:txBody>
          <a:bodyPr/>
          <a:lstStyle/>
          <a:p>
            <a:pPr algn="ctr"/>
            <a:r>
              <a:rPr lang="en-US" b="1" dirty="0">
                <a:solidFill>
                  <a:srgbClr val="336699"/>
                </a:solidFill>
                <a:effectLst>
                  <a:outerShdw dist="17962" dir="2700000">
                    <a:srgbClr val="000000"/>
                  </a:outerShdw>
                </a:effectLst>
                <a:cs typeface="Times New Roman" pitchFamily="18" charset="0"/>
              </a:rPr>
              <a:t>Problem Statement</a:t>
            </a:r>
            <a:endParaRPr lang="en-IN" dirty="0"/>
          </a:p>
        </p:txBody>
      </p:sp>
      <p:sp>
        <p:nvSpPr>
          <p:cNvPr id="3" name="Content Placeholder 2">
            <a:extLst>
              <a:ext uri="{FF2B5EF4-FFF2-40B4-BE49-F238E27FC236}">
                <a16:creationId xmlns:a16="http://schemas.microsoft.com/office/drawing/2014/main" id="{0AB4B562-78C3-94CA-A8AA-12AD4CC8621E}"/>
              </a:ext>
            </a:extLst>
          </p:cNvPr>
          <p:cNvSpPr>
            <a:spLocks noGrp="1"/>
          </p:cNvSpPr>
          <p:nvPr>
            <p:ph idx="1"/>
          </p:nvPr>
        </p:nvSpPr>
        <p:spPr>
          <a:xfrm>
            <a:off x="838200" y="1232452"/>
            <a:ext cx="10515600" cy="5351228"/>
          </a:xfrm>
        </p:spPr>
        <p:txBody>
          <a:bodyPr/>
          <a:lstStyle/>
          <a:p>
            <a:pPr marL="0" indent="0">
              <a:buNone/>
            </a:pPr>
            <a:r>
              <a:rPr lang="en-US" sz="2400" dirty="0"/>
              <a:t>Despite rapid advancements in computing and communication technologies, individuals with severe physical disabilities still face significant barriers in interacting with machines and expressing themselves effectively. Traditional input methods such as keyboards, touchscreens, or voice commands are often inaccessible to them. Brain–Computer Interfaces (BCIs) aim to bridge this gap by enabling direct communication between the human brain and external devices. However, current BCI systems still suffer from challenges such as low signal accuracy, slow information transfer rates, and high dependence on costly EEG hardware, which limit their widespread adoption and practical use</a:t>
            </a:r>
            <a:r>
              <a:rPr lang="en-US" dirty="0"/>
              <a:t>.</a:t>
            </a:r>
            <a:endParaRPr lang="en-US" sz="2800" dirty="0"/>
          </a:p>
        </p:txBody>
      </p:sp>
    </p:spTree>
    <p:extLst>
      <p:ext uri="{BB962C8B-B14F-4D97-AF65-F5344CB8AC3E}">
        <p14:creationId xmlns:p14="http://schemas.microsoft.com/office/powerpoint/2010/main" val="205526562"/>
      </p:ext>
    </p:extLst>
  </p:cSld>
  <p:clrMapOvr>
    <a:masterClrMapping/>
  </p:clrMapOvr>
  <mc:AlternateContent xmlns:mc="http://schemas.openxmlformats.org/markup-compatibility/2006" xmlns:p14="http://schemas.microsoft.com/office/powerpoint/2010/main">
    <mc:Choice Requires="p14">
      <p:transition spd="slow" p14:dur="1300" advTm="4699">
        <p14:pan dir="u"/>
      </p:transition>
    </mc:Choice>
    <mc:Fallback xmlns="">
      <p:transition spd="slow" advTm="4699">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65CC9-4A7A-CA6D-502B-171427D8EEDC}"/>
              </a:ext>
            </a:extLst>
          </p:cNvPr>
          <p:cNvSpPr>
            <a:spLocks noGrp="1"/>
          </p:cNvSpPr>
          <p:nvPr>
            <p:ph type="title"/>
          </p:nvPr>
        </p:nvSpPr>
        <p:spPr>
          <a:xfrm>
            <a:off x="838200" y="365126"/>
            <a:ext cx="10515600" cy="859376"/>
          </a:xfrm>
        </p:spPr>
        <p:txBody>
          <a:bodyPr>
            <a:normAutofit/>
          </a:bodyPr>
          <a:lstStyle/>
          <a:p>
            <a:pPr algn="ctr"/>
            <a:r>
              <a:rPr lang="en-US" sz="4800" b="1" dirty="0">
                <a:solidFill>
                  <a:schemeClr val="accent1"/>
                </a:solidFill>
              </a:rPr>
              <a:t>Objectives</a:t>
            </a:r>
            <a:endParaRPr lang="en-IN" sz="4800" b="1" dirty="0">
              <a:solidFill>
                <a:schemeClr val="accent1"/>
              </a:solidFill>
            </a:endParaRPr>
          </a:p>
        </p:txBody>
      </p:sp>
      <p:sp>
        <p:nvSpPr>
          <p:cNvPr id="4" name="Rectangle 1">
            <a:extLst>
              <a:ext uri="{FF2B5EF4-FFF2-40B4-BE49-F238E27FC236}">
                <a16:creationId xmlns:a16="http://schemas.microsoft.com/office/drawing/2014/main" id="{C3D8B666-42A0-6CE9-3C55-7E116047C885}"/>
              </a:ext>
            </a:extLst>
          </p:cNvPr>
          <p:cNvSpPr>
            <a:spLocks noGrp="1" noChangeArrowheads="1"/>
          </p:cNvSpPr>
          <p:nvPr>
            <p:ph idx="1"/>
          </p:nvPr>
        </p:nvSpPr>
        <p:spPr bwMode="auto">
          <a:xfrm>
            <a:off x="838200" y="1295400"/>
            <a:ext cx="10106025" cy="27628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400" dirty="0"/>
              <a:t>To analyze existing BCI technologies and their applications in healthcare and communication.</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400" dirty="0"/>
              <a:t>To study challenges such as low accuracy, signal noise, and high hardware costs.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400" dirty="0"/>
              <a:t>To explore potential improvements for making BCI more reliable and          accessible.</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400" dirty="0"/>
              <a:t>To introduce the concept and working of Brain–Computer Interfaces (BCIs).</a:t>
            </a:r>
          </a:p>
        </p:txBody>
      </p:sp>
    </p:spTree>
    <p:extLst>
      <p:ext uri="{BB962C8B-B14F-4D97-AF65-F5344CB8AC3E}">
        <p14:creationId xmlns:p14="http://schemas.microsoft.com/office/powerpoint/2010/main" val="3601009992"/>
      </p:ext>
    </p:extLst>
  </p:cSld>
  <p:clrMapOvr>
    <a:masterClrMapping/>
  </p:clrMapOvr>
  <mc:AlternateContent xmlns:mc="http://schemas.openxmlformats.org/markup-compatibility/2006" xmlns:p14="http://schemas.microsoft.com/office/powerpoint/2010/main">
    <mc:Choice Requires="p14">
      <p:transition spd="slow" p14:dur="1300" advTm="4699">
        <p14:pan dir="u"/>
      </p:transition>
    </mc:Choice>
    <mc:Fallback xmlns="">
      <p:transition spd="slow" advTm="4699">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65CC9-4A7A-CA6D-502B-171427D8EEDC}"/>
              </a:ext>
            </a:extLst>
          </p:cNvPr>
          <p:cNvSpPr>
            <a:spLocks noGrp="1"/>
          </p:cNvSpPr>
          <p:nvPr>
            <p:ph type="title"/>
          </p:nvPr>
        </p:nvSpPr>
        <p:spPr>
          <a:xfrm>
            <a:off x="838200" y="365126"/>
            <a:ext cx="10515600" cy="859376"/>
          </a:xfrm>
        </p:spPr>
        <p:txBody>
          <a:bodyPr>
            <a:normAutofit/>
          </a:bodyPr>
          <a:lstStyle/>
          <a:p>
            <a:pPr algn="ctr"/>
            <a:r>
              <a:rPr lang="en-US" sz="4000" b="1" dirty="0">
                <a:solidFill>
                  <a:schemeClr val="accent1"/>
                </a:solidFill>
              </a:rPr>
              <a:t>Motivation</a:t>
            </a:r>
            <a:endParaRPr lang="en-IN" sz="4000" b="1" dirty="0">
              <a:solidFill>
                <a:schemeClr val="accent1"/>
              </a:solidFill>
            </a:endParaRPr>
          </a:p>
        </p:txBody>
      </p:sp>
      <p:sp>
        <p:nvSpPr>
          <p:cNvPr id="4" name="Rectangle 1">
            <a:extLst>
              <a:ext uri="{FF2B5EF4-FFF2-40B4-BE49-F238E27FC236}">
                <a16:creationId xmlns:a16="http://schemas.microsoft.com/office/drawing/2014/main" id="{DC7A4897-F2FF-10DF-A2DF-A5F96718D545}"/>
              </a:ext>
            </a:extLst>
          </p:cNvPr>
          <p:cNvSpPr>
            <a:spLocks noGrp="1" noChangeArrowheads="1"/>
          </p:cNvSpPr>
          <p:nvPr>
            <p:ph idx="1"/>
          </p:nvPr>
        </p:nvSpPr>
        <p:spPr bwMode="auto">
          <a:xfrm>
            <a:off x="838200" y="1386766"/>
            <a:ext cx="11206914" cy="4467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indent="0" eaLnBrk="0" fontAlgn="base" hangingPunct="0">
              <a:lnSpc>
                <a:spcPct val="150000"/>
              </a:lnSpc>
              <a:spcBef>
                <a:spcPct val="0"/>
              </a:spcBef>
              <a:spcAft>
                <a:spcPct val="0"/>
              </a:spcAft>
              <a:buFontTx/>
              <a:buChar char="•"/>
            </a:pPr>
            <a:r>
              <a:rPr lang="en-US" altLang="en-US" sz="2400" dirty="0"/>
              <a:t>Helping individuals with severe physical disabilities regain communication and mobility.</a:t>
            </a:r>
          </a:p>
          <a:p>
            <a:pPr marL="0" indent="0" eaLnBrk="0" fontAlgn="base" hangingPunct="0">
              <a:lnSpc>
                <a:spcPct val="150000"/>
              </a:lnSpc>
              <a:spcBef>
                <a:spcPct val="0"/>
              </a:spcBef>
              <a:spcAft>
                <a:spcPct val="0"/>
              </a:spcAft>
              <a:buFontTx/>
              <a:buChar char="•"/>
            </a:pPr>
            <a:r>
              <a:rPr lang="en-US" altLang="en-US" sz="2400" dirty="0"/>
              <a:t>Reducing dependency on traditional input devices (keyboard, mouse, touch, voice).</a:t>
            </a:r>
          </a:p>
          <a:p>
            <a:pPr marL="0" indent="0" eaLnBrk="0" fontAlgn="base" hangingPunct="0">
              <a:lnSpc>
                <a:spcPct val="150000"/>
              </a:lnSpc>
              <a:spcBef>
                <a:spcPct val="0"/>
              </a:spcBef>
              <a:spcAft>
                <a:spcPct val="0"/>
              </a:spcAft>
              <a:buFontTx/>
              <a:buChar char="•"/>
            </a:pPr>
            <a:r>
              <a:rPr lang="en-US" altLang="en-US" sz="2400" dirty="0"/>
              <a:t>Supporting rehabilitation for patients with spinal cord injuries, stroke, or ALS.</a:t>
            </a:r>
          </a:p>
          <a:p>
            <a:pPr marL="0" indent="0" eaLnBrk="0" fontAlgn="base" hangingPunct="0">
              <a:lnSpc>
                <a:spcPct val="150000"/>
              </a:lnSpc>
              <a:spcBef>
                <a:spcPct val="0"/>
              </a:spcBef>
              <a:spcAft>
                <a:spcPct val="0"/>
              </a:spcAft>
              <a:buFontTx/>
              <a:buChar char="•"/>
            </a:pPr>
            <a:r>
              <a:rPr lang="en-US" altLang="en-US" sz="2400" dirty="0"/>
              <a:t>Advancing prosthetic control using brain signals for natural movement.</a:t>
            </a:r>
          </a:p>
          <a:p>
            <a:pPr marL="0" indent="0" eaLnBrk="0" fontAlgn="base" hangingPunct="0">
              <a:lnSpc>
                <a:spcPct val="150000"/>
              </a:lnSpc>
              <a:spcBef>
                <a:spcPct val="0"/>
              </a:spcBef>
              <a:spcAft>
                <a:spcPct val="0"/>
              </a:spcAft>
              <a:buFontTx/>
              <a:buChar char="•"/>
            </a:pPr>
            <a:r>
              <a:rPr lang="en-US" altLang="en-US" sz="2400" dirty="0"/>
              <a:t>Exploring applications in medicine, gaming, defense, and AI-driven systems.</a:t>
            </a:r>
          </a:p>
          <a:p>
            <a:pPr marL="0" indent="0" eaLnBrk="0" fontAlgn="base" hangingPunct="0">
              <a:lnSpc>
                <a:spcPct val="150000"/>
              </a:lnSpc>
              <a:spcBef>
                <a:spcPct val="0"/>
              </a:spcBef>
              <a:spcAft>
                <a:spcPct val="0"/>
              </a:spcAft>
              <a:buFontTx/>
              <a:buChar char="•"/>
            </a:pPr>
            <a:r>
              <a:rPr lang="en-US" altLang="en-US" sz="2400" dirty="0"/>
              <a:t>Enabling hands-free interaction in hazardous or restricted environments.</a:t>
            </a:r>
          </a:p>
          <a:p>
            <a:pPr marL="0" indent="0" eaLnBrk="0" fontAlgn="base" hangingPunct="0">
              <a:lnSpc>
                <a:spcPct val="150000"/>
              </a:lnSpc>
              <a:spcBef>
                <a:spcPct val="0"/>
              </a:spcBef>
              <a:spcAft>
                <a:spcPct val="0"/>
              </a:spcAft>
              <a:buFontTx/>
              <a:buChar char="•"/>
            </a:pPr>
            <a:r>
              <a:rPr lang="en-US" altLang="en-US" sz="2400" dirty="0"/>
              <a:t>Bridging the gap between human cognition and machine intelligence.</a:t>
            </a:r>
          </a:p>
          <a:p>
            <a:pPr marL="0" indent="0" eaLnBrk="0" fontAlgn="base" hangingPunct="0">
              <a:lnSpc>
                <a:spcPct val="150000"/>
              </a:lnSpc>
              <a:spcBef>
                <a:spcPct val="0"/>
              </a:spcBef>
              <a:spcAft>
                <a:spcPct val="0"/>
              </a:spcAft>
              <a:buFontTx/>
              <a:buChar char="•"/>
            </a:pPr>
            <a:r>
              <a:rPr lang="en-US" altLang="en-US" sz="2400" dirty="0"/>
              <a:t>Inspiring future innovations towards human–machine symbiosis.</a:t>
            </a:r>
          </a:p>
        </p:txBody>
      </p:sp>
    </p:spTree>
    <p:extLst>
      <p:ext uri="{BB962C8B-B14F-4D97-AF65-F5344CB8AC3E}">
        <p14:creationId xmlns:p14="http://schemas.microsoft.com/office/powerpoint/2010/main" val="1551490647"/>
      </p:ext>
    </p:extLst>
  </p:cSld>
  <p:clrMapOvr>
    <a:masterClrMapping/>
  </p:clrMapOvr>
  <mc:AlternateContent xmlns:mc="http://schemas.openxmlformats.org/markup-compatibility/2006" xmlns:p14="http://schemas.microsoft.com/office/powerpoint/2010/main">
    <mc:Choice Requires="p14">
      <p:transition spd="slow" p14:dur="1300" advTm="4699">
        <p14:pan dir="u"/>
      </p:transition>
    </mc:Choice>
    <mc:Fallback xmlns="">
      <p:transition spd="slow" advTm="4699">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65CC9-4A7A-CA6D-502B-171427D8EEDC}"/>
              </a:ext>
            </a:extLst>
          </p:cNvPr>
          <p:cNvSpPr>
            <a:spLocks noGrp="1"/>
          </p:cNvSpPr>
          <p:nvPr>
            <p:ph type="title"/>
          </p:nvPr>
        </p:nvSpPr>
        <p:spPr>
          <a:xfrm>
            <a:off x="838200" y="532736"/>
            <a:ext cx="10515600" cy="1017767"/>
          </a:xfrm>
        </p:spPr>
        <p:txBody>
          <a:bodyPr>
            <a:normAutofit fontScale="90000"/>
          </a:bodyPr>
          <a:lstStyle/>
          <a:p>
            <a:pPr algn="ctr"/>
            <a:r>
              <a:rPr lang="en-US" sz="4800" b="1" dirty="0">
                <a:solidFill>
                  <a:schemeClr val="accent1"/>
                </a:solidFill>
                <a:latin typeface="Times New Roman" panose="02020603050405020304" pitchFamily="18" charset="0"/>
                <a:cs typeface="Times New Roman" panose="02020603050405020304" pitchFamily="18" charset="0"/>
              </a:rPr>
              <a:t>System Architecture</a:t>
            </a:r>
            <a:br>
              <a:rPr lang="en-US" sz="4800" b="1" dirty="0">
                <a:solidFill>
                  <a:schemeClr val="accent1"/>
                </a:solidFill>
                <a:latin typeface="Times New Roman" panose="02020603050405020304" pitchFamily="18" charset="0"/>
                <a:cs typeface="Times New Roman" panose="02020603050405020304" pitchFamily="18" charset="0"/>
              </a:rPr>
            </a:br>
            <a:endParaRPr lang="en-IN" sz="4800" b="1" dirty="0">
              <a:solidFill>
                <a:schemeClr val="accent1"/>
              </a:solidFill>
            </a:endParaRPr>
          </a:p>
        </p:txBody>
      </p:sp>
      <p:pic>
        <p:nvPicPr>
          <p:cNvPr id="6" name="Content Placeholder 5">
            <a:extLst>
              <a:ext uri="{FF2B5EF4-FFF2-40B4-BE49-F238E27FC236}">
                <a16:creationId xmlns:a16="http://schemas.microsoft.com/office/drawing/2014/main" id="{D30D7919-7642-850E-C72D-3673D037A49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85073" y="1104181"/>
            <a:ext cx="5727938" cy="5684808"/>
          </a:xfrm>
        </p:spPr>
      </p:pic>
    </p:spTree>
    <p:extLst>
      <p:ext uri="{BB962C8B-B14F-4D97-AF65-F5344CB8AC3E}">
        <p14:creationId xmlns:p14="http://schemas.microsoft.com/office/powerpoint/2010/main" val="2771348696"/>
      </p:ext>
    </p:extLst>
  </p:cSld>
  <p:clrMapOvr>
    <a:masterClrMapping/>
  </p:clrMapOvr>
  <mc:AlternateContent xmlns:mc="http://schemas.openxmlformats.org/markup-compatibility/2006" xmlns:p14="http://schemas.microsoft.com/office/powerpoint/2010/main">
    <mc:Choice Requires="p14">
      <p:transition spd="slow" p14:dur="1300" advTm="4699">
        <p14:pan dir="u"/>
      </p:transition>
    </mc:Choice>
    <mc:Fallback xmlns="">
      <p:transition spd="slow" advTm="4699">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7778C9-CC73-76C3-2F8C-993B9107A753}"/>
              </a:ext>
            </a:extLst>
          </p:cNvPr>
          <p:cNvSpPr txBox="1"/>
          <p:nvPr/>
        </p:nvSpPr>
        <p:spPr>
          <a:xfrm>
            <a:off x="0" y="428625"/>
            <a:ext cx="12192000" cy="707886"/>
          </a:xfrm>
          <a:prstGeom prst="rect">
            <a:avLst/>
          </a:prstGeom>
          <a:noFill/>
        </p:spPr>
        <p:txBody>
          <a:bodyPr wrap="square" rtlCol="0">
            <a:spAutoFit/>
          </a:bodyPr>
          <a:lstStyle/>
          <a:p>
            <a:pPr algn="ctr"/>
            <a:r>
              <a:rPr lang="en-IN" sz="4000" b="1" dirty="0">
                <a:solidFill>
                  <a:schemeClr val="accent1"/>
                </a:solidFill>
                <a:latin typeface="Times New Roman" panose="02020603050405020304" pitchFamily="18" charset="0"/>
                <a:ea typeface="+mj-ea"/>
                <a:cs typeface="Times New Roman" panose="02020603050405020304" pitchFamily="18" charset="0"/>
              </a:rPr>
              <a:t>Mathematical Model</a:t>
            </a:r>
          </a:p>
        </p:txBody>
      </p:sp>
      <p:pic>
        <p:nvPicPr>
          <p:cNvPr id="6" name="Picture 5">
            <a:extLst>
              <a:ext uri="{FF2B5EF4-FFF2-40B4-BE49-F238E27FC236}">
                <a16:creationId xmlns:a16="http://schemas.microsoft.com/office/drawing/2014/main" id="{FB3768BD-6B0C-5BB6-3AE9-F92108771C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937" y="1524000"/>
            <a:ext cx="11839575" cy="5229225"/>
          </a:xfrm>
          <a:prstGeom prst="rect">
            <a:avLst/>
          </a:prstGeom>
        </p:spPr>
      </p:pic>
    </p:spTree>
    <p:extLst>
      <p:ext uri="{BB962C8B-B14F-4D97-AF65-F5344CB8AC3E}">
        <p14:creationId xmlns:p14="http://schemas.microsoft.com/office/powerpoint/2010/main" val="1447633666"/>
      </p:ext>
    </p:extLst>
  </p:cSld>
  <p:clrMapOvr>
    <a:masterClrMapping/>
  </p:clrMapOvr>
  <mc:AlternateContent xmlns:mc="http://schemas.openxmlformats.org/markup-compatibility/2006" xmlns:p14="http://schemas.microsoft.com/office/powerpoint/2010/main">
    <mc:Choice Requires="p14">
      <p:transition spd="slow" p14:dur="1300" advTm="4699">
        <p14:pan dir="u"/>
      </p:transition>
    </mc:Choice>
    <mc:Fallback xmlns="">
      <p:transition spd="slow" advTm="4699">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65CC9-4A7A-CA6D-502B-171427D8EEDC}"/>
              </a:ext>
            </a:extLst>
          </p:cNvPr>
          <p:cNvSpPr>
            <a:spLocks noGrp="1"/>
          </p:cNvSpPr>
          <p:nvPr>
            <p:ph type="title"/>
          </p:nvPr>
        </p:nvSpPr>
        <p:spPr>
          <a:xfrm>
            <a:off x="838200" y="739471"/>
            <a:ext cx="10515600" cy="811032"/>
          </a:xfrm>
        </p:spPr>
        <p:txBody>
          <a:bodyPr>
            <a:normAutofit fontScale="90000"/>
          </a:bodyPr>
          <a:lstStyle/>
          <a:p>
            <a:pPr algn="ctr"/>
            <a:r>
              <a:rPr lang="en-US" b="1" dirty="0">
                <a:solidFill>
                  <a:schemeClr val="accent1"/>
                </a:solidFill>
                <a:latin typeface="Times New Roman" panose="02020603050405020304" pitchFamily="18" charset="0"/>
                <a:cs typeface="Times New Roman" panose="02020603050405020304" pitchFamily="18" charset="0"/>
              </a:rPr>
              <a:t>Methodology</a:t>
            </a:r>
            <a:br>
              <a:rPr lang="en-US" b="1" dirty="0">
                <a:solidFill>
                  <a:schemeClr val="accent1"/>
                </a:solidFill>
                <a:latin typeface="Times New Roman" panose="02020603050405020304" pitchFamily="18" charset="0"/>
                <a:cs typeface="Times New Roman" panose="02020603050405020304" pitchFamily="18" charset="0"/>
              </a:rPr>
            </a:br>
            <a:br>
              <a:rPr lang="en-US" sz="4800" b="1" dirty="0">
                <a:solidFill>
                  <a:schemeClr val="accent1"/>
                </a:solidFill>
                <a:latin typeface="Times New Roman" panose="02020603050405020304" pitchFamily="18" charset="0"/>
                <a:cs typeface="Times New Roman" panose="02020603050405020304" pitchFamily="18" charset="0"/>
              </a:rPr>
            </a:br>
            <a:endParaRPr lang="en-IN" sz="4800" b="1" dirty="0">
              <a:solidFill>
                <a:schemeClr val="accent1"/>
              </a:solidFill>
            </a:endParaRPr>
          </a:p>
        </p:txBody>
      </p:sp>
      <p:sp>
        <p:nvSpPr>
          <p:cNvPr id="3" name="Content Placeholder 2">
            <a:extLst>
              <a:ext uri="{FF2B5EF4-FFF2-40B4-BE49-F238E27FC236}">
                <a16:creationId xmlns:a16="http://schemas.microsoft.com/office/drawing/2014/main" id="{0AB4B562-78C3-94CA-A8AA-12AD4CC8621E}"/>
              </a:ext>
            </a:extLst>
          </p:cNvPr>
          <p:cNvSpPr>
            <a:spLocks noGrp="1"/>
          </p:cNvSpPr>
          <p:nvPr>
            <p:ph idx="1"/>
          </p:nvPr>
        </p:nvSpPr>
        <p:spPr>
          <a:xfrm>
            <a:off x="838200" y="1781092"/>
            <a:ext cx="10515600" cy="4802588"/>
          </a:xfrm>
        </p:spPr>
        <p:txBody>
          <a:bodyPr/>
          <a:lstStyle/>
          <a:p>
            <a:pPr marL="0" lvl="0" indent="0" eaLnBrk="0" fontAlgn="base" hangingPunct="0">
              <a:lnSpc>
                <a:spcPct val="150000"/>
              </a:lnSpc>
              <a:spcBef>
                <a:spcPct val="0"/>
              </a:spcBef>
              <a:spcAft>
                <a:spcPct val="0"/>
              </a:spcAft>
              <a:buFontTx/>
              <a:buChar char="•"/>
            </a:pPr>
            <a:r>
              <a:rPr lang="en-US" altLang="en-US" sz="2400" dirty="0"/>
              <a:t>Step 1: Record brain signals using EEG electrodes.</a:t>
            </a:r>
          </a:p>
          <a:p>
            <a:pPr marL="0" lvl="0" indent="0" eaLnBrk="0" fontAlgn="base" hangingPunct="0">
              <a:lnSpc>
                <a:spcPct val="150000"/>
              </a:lnSpc>
              <a:spcBef>
                <a:spcPct val="0"/>
              </a:spcBef>
              <a:spcAft>
                <a:spcPct val="0"/>
              </a:spcAft>
              <a:buFontTx/>
              <a:buChar char="•"/>
            </a:pPr>
            <a:r>
              <a:rPr lang="en-US" altLang="en-US" sz="2400" dirty="0"/>
              <a:t>Step 2: Apply preprocessing to remove artifacts.</a:t>
            </a:r>
          </a:p>
          <a:p>
            <a:pPr marL="0" lvl="0" indent="0" eaLnBrk="0" fontAlgn="base" hangingPunct="0">
              <a:lnSpc>
                <a:spcPct val="150000"/>
              </a:lnSpc>
              <a:spcBef>
                <a:spcPct val="0"/>
              </a:spcBef>
              <a:spcAft>
                <a:spcPct val="0"/>
              </a:spcAft>
              <a:buFontTx/>
              <a:buChar char="•"/>
            </a:pPr>
            <a:r>
              <a:rPr lang="en-US" altLang="en-US" sz="2400" dirty="0"/>
              <a:t>Step 3: Extract features (frequency, amplitude, wave patterns).</a:t>
            </a:r>
          </a:p>
          <a:p>
            <a:pPr marL="0" lvl="0" indent="0" eaLnBrk="0" fontAlgn="base" hangingPunct="0">
              <a:lnSpc>
                <a:spcPct val="150000"/>
              </a:lnSpc>
              <a:spcBef>
                <a:spcPct val="0"/>
              </a:spcBef>
              <a:spcAft>
                <a:spcPct val="0"/>
              </a:spcAft>
              <a:buFontTx/>
              <a:buChar char="•"/>
            </a:pPr>
            <a:r>
              <a:rPr lang="en-US" altLang="en-US" sz="2400" dirty="0"/>
              <a:t>Step 4: Use machine learning for classification.</a:t>
            </a:r>
          </a:p>
          <a:p>
            <a:pPr marL="0" lvl="0" indent="0" eaLnBrk="0" fontAlgn="base" hangingPunct="0">
              <a:lnSpc>
                <a:spcPct val="150000"/>
              </a:lnSpc>
              <a:spcBef>
                <a:spcPct val="0"/>
              </a:spcBef>
              <a:spcAft>
                <a:spcPct val="0"/>
              </a:spcAft>
              <a:buFontTx/>
              <a:buChar char="•"/>
            </a:pPr>
            <a:r>
              <a:rPr lang="en-US" altLang="en-US" sz="2400" dirty="0"/>
              <a:t>Step 5: Translate classified signals into control commands.</a:t>
            </a:r>
          </a:p>
          <a:p>
            <a:pPr marL="0" lvl="0" indent="0" eaLnBrk="0" fontAlgn="base" hangingPunct="0">
              <a:lnSpc>
                <a:spcPct val="150000"/>
              </a:lnSpc>
              <a:spcBef>
                <a:spcPct val="0"/>
              </a:spcBef>
              <a:spcAft>
                <a:spcPct val="0"/>
              </a:spcAft>
              <a:buFontTx/>
              <a:buChar char="•"/>
            </a:pPr>
            <a:r>
              <a:rPr lang="en-US" altLang="en-US" sz="2400" dirty="0"/>
              <a:t>Step 6: Output device responds (cursor movement, prosthetic action)</a:t>
            </a:r>
          </a:p>
          <a:p>
            <a:endParaRPr lang="en-US" dirty="0"/>
          </a:p>
          <a:p>
            <a:endParaRPr lang="en-US" dirty="0"/>
          </a:p>
        </p:txBody>
      </p:sp>
    </p:spTree>
    <p:extLst>
      <p:ext uri="{BB962C8B-B14F-4D97-AF65-F5344CB8AC3E}">
        <p14:creationId xmlns:p14="http://schemas.microsoft.com/office/powerpoint/2010/main" val="2733468885"/>
      </p:ext>
    </p:extLst>
  </p:cSld>
  <p:clrMapOvr>
    <a:masterClrMapping/>
  </p:clrMapOvr>
  <mc:AlternateContent xmlns:mc="http://schemas.openxmlformats.org/markup-compatibility/2006" xmlns:p14="http://schemas.microsoft.com/office/powerpoint/2010/main">
    <mc:Choice Requires="p14">
      <p:transition spd="slow" p14:dur="1300" advTm="4699">
        <p14:pan dir="u"/>
      </p:transition>
    </mc:Choice>
    <mc:Fallback xmlns="">
      <p:transition spd="slow" advTm="4699">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65CC9-4A7A-CA6D-502B-171427D8EEDC}"/>
              </a:ext>
            </a:extLst>
          </p:cNvPr>
          <p:cNvSpPr>
            <a:spLocks noGrp="1"/>
          </p:cNvSpPr>
          <p:nvPr>
            <p:ph type="title"/>
          </p:nvPr>
        </p:nvSpPr>
        <p:spPr>
          <a:xfrm>
            <a:off x="838200" y="699715"/>
            <a:ext cx="10515600" cy="850788"/>
          </a:xfrm>
        </p:spPr>
        <p:txBody>
          <a:bodyPr>
            <a:normAutofit fontScale="90000"/>
          </a:bodyPr>
          <a:lstStyle/>
          <a:p>
            <a:pPr algn="ctr"/>
            <a:r>
              <a:rPr lang="en-US" b="1" dirty="0">
                <a:solidFill>
                  <a:schemeClr val="accent1"/>
                </a:solidFill>
                <a:latin typeface="Times New Roman" panose="02020603050405020304" pitchFamily="18" charset="0"/>
                <a:cs typeface="Times New Roman" panose="02020603050405020304" pitchFamily="18" charset="0"/>
              </a:rPr>
              <a:t>Pros and Cons</a:t>
            </a:r>
            <a:br>
              <a:rPr lang="en-US" b="1" dirty="0">
                <a:solidFill>
                  <a:schemeClr val="accent1"/>
                </a:solidFill>
                <a:latin typeface="Times New Roman" panose="02020603050405020304" pitchFamily="18" charset="0"/>
                <a:cs typeface="Times New Roman" panose="02020603050405020304" pitchFamily="18" charset="0"/>
              </a:rPr>
            </a:br>
            <a:br>
              <a:rPr lang="en-US" sz="4800" b="1" dirty="0">
                <a:solidFill>
                  <a:schemeClr val="accent1"/>
                </a:solidFill>
                <a:latin typeface="Times New Roman" panose="02020603050405020304" pitchFamily="18" charset="0"/>
                <a:cs typeface="Times New Roman" panose="02020603050405020304" pitchFamily="18" charset="0"/>
              </a:rPr>
            </a:br>
            <a:endParaRPr lang="en-IN" sz="4800" b="1" dirty="0">
              <a:solidFill>
                <a:schemeClr val="accent1"/>
              </a:solidFill>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065551149"/>
              </p:ext>
            </p:extLst>
          </p:nvPr>
        </p:nvGraphicFramePr>
        <p:xfrm>
          <a:off x="838200" y="1781175"/>
          <a:ext cx="10515600" cy="4241192"/>
        </p:xfrm>
        <a:graphic>
          <a:graphicData uri="http://schemas.openxmlformats.org/drawingml/2006/table">
            <a:tbl>
              <a:tblPr firstRow="1" bandRow="1">
                <a:tableStyleId>{21E4AEA4-8DFA-4A89-87EB-49C32662AFE0}</a:tableStyleId>
              </a:tblPr>
              <a:tblGrid>
                <a:gridCol w="5257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748996">
                <a:tc>
                  <a:txBody>
                    <a:bodyPr/>
                    <a:lstStyle/>
                    <a:p>
                      <a:r>
                        <a:rPr lang="en-US" sz="3200" b="1" dirty="0"/>
                        <a:t>                      Pros</a:t>
                      </a:r>
                      <a:endParaRPr lang="en-IN" sz="3200" b="1" dirty="0"/>
                    </a:p>
                  </a:txBody>
                  <a:tcPr/>
                </a:tc>
                <a:tc>
                  <a:txBody>
                    <a:bodyPr/>
                    <a:lstStyle/>
                    <a:p>
                      <a:r>
                        <a:rPr lang="en-US" sz="3200" dirty="0"/>
                        <a:t>                        Cons</a:t>
                      </a:r>
                      <a:endParaRPr lang="en-IN" sz="3200" dirty="0"/>
                    </a:p>
                  </a:txBody>
                  <a:tcPr/>
                </a:tc>
                <a:extLst>
                  <a:ext uri="{0D108BD9-81ED-4DB2-BD59-A6C34878D82A}">
                    <a16:rowId xmlns:a16="http://schemas.microsoft.com/office/drawing/2014/main" val="10000"/>
                  </a:ext>
                </a:extLst>
              </a:tr>
              <a:tr h="748996">
                <a:tc>
                  <a:txBody>
                    <a:bodyPr/>
                    <a:lstStyle/>
                    <a:p>
                      <a:pPr marL="342900" indent="-342900">
                        <a:buFont typeface="+mj-lt"/>
                        <a:buAutoNum type="arabicPeriod"/>
                      </a:pPr>
                      <a:r>
                        <a:rPr lang="en-US" sz="2400" dirty="0"/>
                        <a:t>Assists people with severe disabilities.</a:t>
                      </a:r>
                      <a:endParaRPr lang="en-IN" sz="2400" dirty="0"/>
                    </a:p>
                  </a:txBody>
                  <a:tcPr/>
                </a:tc>
                <a:tc>
                  <a:txBody>
                    <a:bodyPr/>
                    <a:lstStyle/>
                    <a:p>
                      <a:r>
                        <a:rPr lang="en-US" dirty="0"/>
                        <a:t>1. </a:t>
                      </a:r>
                      <a:r>
                        <a:rPr lang="en-US" sz="2400" kern="1200" dirty="0">
                          <a:solidFill>
                            <a:schemeClr val="dk1"/>
                          </a:solidFill>
                          <a:latin typeface="+mn-lt"/>
                          <a:ea typeface="+mn-ea"/>
                          <a:cs typeface="+mn-cs"/>
                        </a:rPr>
                        <a:t>Low signal accuracy and speed</a:t>
                      </a:r>
                      <a:endParaRPr lang="en-IN" sz="2400" kern="1200" dirty="0">
                        <a:solidFill>
                          <a:schemeClr val="dk1"/>
                        </a:solidFill>
                        <a:latin typeface="+mn-lt"/>
                        <a:ea typeface="+mn-ea"/>
                        <a:cs typeface="+mn-cs"/>
                      </a:endParaRPr>
                    </a:p>
                  </a:txBody>
                  <a:tcPr/>
                </a:tc>
                <a:extLst>
                  <a:ext uri="{0D108BD9-81ED-4DB2-BD59-A6C34878D82A}">
                    <a16:rowId xmlns:a16="http://schemas.microsoft.com/office/drawing/2014/main" val="10001"/>
                  </a:ext>
                </a:extLst>
              </a:tr>
              <a:tr h="748996">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IN" dirty="0"/>
                        <a:t>2</a:t>
                      </a:r>
                      <a:r>
                        <a:rPr lang="en-IN" sz="2400" kern="1200" dirty="0">
                          <a:solidFill>
                            <a:schemeClr val="dk1"/>
                          </a:solidFill>
                          <a:latin typeface="+mn-lt"/>
                          <a:ea typeface="+mn-ea"/>
                          <a:cs typeface="+mn-cs"/>
                        </a:rPr>
                        <a:t>. </a:t>
                      </a:r>
                      <a:r>
                        <a:rPr lang="en-US" sz="2400" kern="1200" dirty="0">
                          <a:solidFill>
                            <a:schemeClr val="dk1"/>
                          </a:solidFill>
                          <a:latin typeface="+mn-lt"/>
                          <a:ea typeface="+mn-ea"/>
                          <a:cs typeface="+mn-cs"/>
                        </a:rPr>
                        <a:t>Enables hands-free communication and control.</a:t>
                      </a:r>
                      <a:endParaRPr lang="en-IN" sz="2400" kern="1200" dirty="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2</a:t>
                      </a:r>
                      <a:r>
                        <a:rPr lang="en-US" sz="2400" kern="1200" dirty="0">
                          <a:solidFill>
                            <a:schemeClr val="dk1"/>
                          </a:solidFill>
                          <a:latin typeface="+mn-lt"/>
                          <a:ea typeface="+mn-ea"/>
                          <a:cs typeface="+mn-cs"/>
                        </a:rPr>
                        <a:t>. High cost of devices and setup.</a:t>
                      </a:r>
                      <a:endParaRPr lang="en-IN" sz="2400" kern="1200" dirty="0">
                        <a:solidFill>
                          <a:schemeClr val="dk1"/>
                        </a:solidFill>
                        <a:latin typeface="+mn-lt"/>
                        <a:ea typeface="+mn-ea"/>
                        <a:cs typeface="+mn-cs"/>
                      </a:endParaRPr>
                    </a:p>
                  </a:txBody>
                  <a:tcPr/>
                </a:tc>
                <a:extLst>
                  <a:ext uri="{0D108BD9-81ED-4DB2-BD59-A6C34878D82A}">
                    <a16:rowId xmlns:a16="http://schemas.microsoft.com/office/drawing/2014/main" val="10002"/>
                  </a:ext>
                </a:extLst>
              </a:tr>
              <a:tr h="748996">
                <a:tc>
                  <a:txBody>
                    <a:bodyPr/>
                    <a:lstStyle/>
                    <a:p>
                      <a:r>
                        <a:rPr lang="en-IN" dirty="0"/>
                        <a:t>3. </a:t>
                      </a:r>
                      <a:r>
                        <a:rPr lang="en-US" sz="2400" kern="1200" dirty="0">
                          <a:solidFill>
                            <a:schemeClr val="dk1"/>
                          </a:solidFill>
                          <a:latin typeface="+mn-lt"/>
                          <a:ea typeface="+mn-ea"/>
                          <a:cs typeface="+mn-cs"/>
                        </a:rPr>
                        <a:t>Wide applications (healthcare, robotics, gaming, defense)</a:t>
                      </a:r>
                      <a:endParaRPr lang="en-IN" sz="2400" kern="1200" dirty="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kern="1200" dirty="0">
                          <a:solidFill>
                            <a:schemeClr val="dk1"/>
                          </a:solidFill>
                          <a:latin typeface="+mn-lt"/>
                          <a:ea typeface="+mn-ea"/>
                          <a:cs typeface="+mn-cs"/>
                        </a:rPr>
                        <a:t>3. </a:t>
                      </a:r>
                      <a:r>
                        <a:rPr lang="en-IN" sz="2400" kern="1200" dirty="0">
                          <a:solidFill>
                            <a:schemeClr val="dk1"/>
                          </a:solidFill>
                          <a:latin typeface="+mn-lt"/>
                          <a:ea typeface="+mn-ea"/>
                          <a:cs typeface="+mn-cs"/>
                        </a:rPr>
                        <a:t>Requires training and calibration.</a:t>
                      </a:r>
                    </a:p>
                  </a:txBody>
                  <a:tcPr/>
                </a:tc>
                <a:extLst>
                  <a:ext uri="{0D108BD9-81ED-4DB2-BD59-A6C34878D82A}">
                    <a16:rowId xmlns:a16="http://schemas.microsoft.com/office/drawing/2014/main" val="10003"/>
                  </a:ext>
                </a:extLst>
              </a:tr>
              <a:tr h="748996">
                <a:tc>
                  <a:txBody>
                    <a:bodyPr/>
                    <a:lstStyle/>
                    <a:p>
                      <a:r>
                        <a:rPr lang="en-IN" dirty="0"/>
                        <a:t>4. </a:t>
                      </a:r>
                      <a:r>
                        <a:rPr lang="en-US" sz="2400" kern="1200" dirty="0">
                          <a:solidFill>
                            <a:schemeClr val="dk1"/>
                          </a:solidFill>
                          <a:latin typeface="+mn-lt"/>
                          <a:ea typeface="+mn-ea"/>
                          <a:cs typeface="+mn-cs"/>
                        </a:rPr>
                        <a:t>Advances human–machine interaction research</a:t>
                      </a:r>
                      <a:endParaRPr lang="en-IN" sz="2400" kern="1200" dirty="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4</a:t>
                      </a:r>
                      <a:r>
                        <a:rPr lang="en-US" sz="2400" kern="1200" dirty="0">
                          <a:solidFill>
                            <a:schemeClr val="dk1"/>
                          </a:solidFill>
                          <a:latin typeface="+mn-lt"/>
                          <a:ea typeface="+mn-ea"/>
                          <a:cs typeface="+mn-cs"/>
                        </a:rPr>
                        <a:t>. </a:t>
                      </a:r>
                      <a:r>
                        <a:rPr lang="en-IN" sz="2400" kern="1200" dirty="0">
                          <a:solidFill>
                            <a:schemeClr val="dk1"/>
                          </a:solidFill>
                          <a:latin typeface="+mn-lt"/>
                          <a:ea typeface="+mn-ea"/>
                          <a:cs typeface="+mn-cs"/>
                        </a:rPr>
                        <a:t>Susceptible to noise and environmental interference.</a:t>
                      </a:r>
                      <a:endParaRPr lang="en-US" sz="2400" kern="1200" dirty="0">
                        <a:solidFill>
                          <a:schemeClr val="dk1"/>
                        </a:solidFill>
                        <a:latin typeface="+mn-lt"/>
                        <a:ea typeface="+mn-ea"/>
                        <a:cs typeface="+mn-cs"/>
                      </a:endParaRPr>
                    </a:p>
                    <a:p>
                      <a:endParaRPr lang="en-IN"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638760280"/>
      </p:ext>
    </p:extLst>
  </p:cSld>
  <p:clrMapOvr>
    <a:masterClrMapping/>
  </p:clrMapOvr>
  <mc:AlternateContent xmlns:mc="http://schemas.openxmlformats.org/markup-compatibility/2006" xmlns:p14="http://schemas.microsoft.com/office/powerpoint/2010/main">
    <mc:Choice Requires="p14">
      <p:transition spd="slow" p14:dur="1300" advTm="4699">
        <p14:pan dir="u"/>
      </p:transition>
    </mc:Choice>
    <mc:Fallback xmlns="">
      <p:transition spd="slow" advTm="4699">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65CC9-4A7A-CA6D-502B-171427D8EEDC}"/>
              </a:ext>
            </a:extLst>
          </p:cNvPr>
          <p:cNvSpPr>
            <a:spLocks noGrp="1"/>
          </p:cNvSpPr>
          <p:nvPr>
            <p:ph type="title"/>
          </p:nvPr>
        </p:nvSpPr>
        <p:spPr>
          <a:xfrm>
            <a:off x="838200" y="731520"/>
            <a:ext cx="10515600" cy="818983"/>
          </a:xfrm>
        </p:spPr>
        <p:txBody>
          <a:bodyPr>
            <a:normAutofit fontScale="90000"/>
          </a:bodyPr>
          <a:lstStyle/>
          <a:p>
            <a:pPr algn="ctr"/>
            <a:r>
              <a:rPr lang="en-US" b="1" dirty="0">
                <a:solidFill>
                  <a:schemeClr val="accent1"/>
                </a:solidFill>
                <a:latin typeface="Times New Roman" panose="02020603050405020304" pitchFamily="18" charset="0"/>
                <a:cs typeface="Times New Roman" panose="02020603050405020304" pitchFamily="18" charset="0"/>
              </a:rPr>
              <a:t>Application</a:t>
            </a:r>
            <a:br>
              <a:rPr lang="en-US" b="1" dirty="0">
                <a:solidFill>
                  <a:schemeClr val="accent1"/>
                </a:solidFill>
                <a:latin typeface="Times New Roman" panose="02020603050405020304" pitchFamily="18" charset="0"/>
                <a:cs typeface="Times New Roman" panose="02020603050405020304" pitchFamily="18" charset="0"/>
              </a:rPr>
            </a:br>
            <a:br>
              <a:rPr lang="en-US" sz="4800" b="1" dirty="0">
                <a:solidFill>
                  <a:schemeClr val="accent1"/>
                </a:solidFill>
                <a:latin typeface="Times New Roman" panose="02020603050405020304" pitchFamily="18" charset="0"/>
                <a:cs typeface="Times New Roman" panose="02020603050405020304" pitchFamily="18" charset="0"/>
              </a:rPr>
            </a:br>
            <a:endParaRPr lang="en-IN" sz="4800" b="1" dirty="0">
              <a:solidFill>
                <a:schemeClr val="accent1"/>
              </a:solidFill>
            </a:endParaRPr>
          </a:p>
        </p:txBody>
      </p:sp>
      <p:sp>
        <p:nvSpPr>
          <p:cNvPr id="5" name="Rectangle 2">
            <a:extLst>
              <a:ext uri="{FF2B5EF4-FFF2-40B4-BE49-F238E27FC236}">
                <a16:creationId xmlns:a16="http://schemas.microsoft.com/office/drawing/2014/main" id="{25ECBC59-B155-414B-263C-7E5CB36F0A79}"/>
              </a:ext>
            </a:extLst>
          </p:cNvPr>
          <p:cNvSpPr>
            <a:spLocks noGrp="1" noChangeArrowheads="1"/>
          </p:cNvSpPr>
          <p:nvPr>
            <p:ph idx="1"/>
          </p:nvPr>
        </p:nvSpPr>
        <p:spPr bwMode="auto">
          <a:xfrm>
            <a:off x="838199" y="1975689"/>
            <a:ext cx="9267825" cy="3359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lang="en-US" altLang="en-US" sz="2400" dirty="0"/>
              <a:t>Medical rehabilitation (stroke, spinal cord injury, ALS).</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lang="en-US" altLang="en-US" sz="2400" dirty="0"/>
              <a:t>Assistive technologies (prosthetics, communication aids).</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lang="en-US" altLang="en-US" sz="2400" dirty="0"/>
              <a:t>Smart wheelchairs and robotic arm control.</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lang="en-US" altLang="en-US" sz="2400" dirty="0"/>
              <a:t>Gaming and virtual reality.</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lang="en-US" altLang="en-US" sz="2400" dirty="0"/>
              <a:t>Military and defense applications.</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lang="en-US" altLang="en-US" sz="2400" dirty="0"/>
              <a:t>Brain-controlled smart home systems.</a:t>
            </a:r>
          </a:p>
        </p:txBody>
      </p:sp>
    </p:spTree>
    <p:extLst>
      <p:ext uri="{BB962C8B-B14F-4D97-AF65-F5344CB8AC3E}">
        <p14:creationId xmlns:p14="http://schemas.microsoft.com/office/powerpoint/2010/main" val="4276824716"/>
      </p:ext>
    </p:extLst>
  </p:cSld>
  <p:clrMapOvr>
    <a:masterClrMapping/>
  </p:clrMapOvr>
  <mc:AlternateContent xmlns:mc="http://schemas.openxmlformats.org/markup-compatibility/2006" xmlns:p14="http://schemas.microsoft.com/office/powerpoint/2010/main">
    <mc:Choice Requires="p14">
      <p:transition spd="slow" p14:dur="1300" advTm="4699">
        <p14:pan dir="u"/>
      </p:transition>
    </mc:Choice>
    <mc:Fallback xmlns="">
      <p:transition spd="slow" advTm="4699">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65CC9-4A7A-CA6D-502B-171427D8EEDC}"/>
              </a:ext>
            </a:extLst>
          </p:cNvPr>
          <p:cNvSpPr>
            <a:spLocks noGrp="1"/>
          </p:cNvSpPr>
          <p:nvPr>
            <p:ph type="title"/>
          </p:nvPr>
        </p:nvSpPr>
        <p:spPr>
          <a:xfrm>
            <a:off x="838200" y="341906"/>
            <a:ext cx="10515600" cy="747423"/>
          </a:xfrm>
        </p:spPr>
        <p:txBody>
          <a:bodyPr>
            <a:normAutofit fontScale="90000"/>
          </a:bodyPr>
          <a:lstStyle/>
          <a:p>
            <a:pPr algn="ctr"/>
            <a:br>
              <a:rPr lang="en-US" b="1" dirty="0">
                <a:solidFill>
                  <a:schemeClr val="accent1"/>
                </a:solidFill>
                <a:latin typeface="Times New Roman" panose="02020603050405020304" pitchFamily="18" charset="0"/>
                <a:cs typeface="Times New Roman" panose="02020603050405020304" pitchFamily="18" charset="0"/>
              </a:rPr>
            </a:br>
            <a:br>
              <a:rPr lang="en-US" sz="4800" b="1" dirty="0">
                <a:solidFill>
                  <a:schemeClr val="accent1"/>
                </a:solidFill>
                <a:latin typeface="Times New Roman" panose="02020603050405020304" pitchFamily="18" charset="0"/>
                <a:cs typeface="Times New Roman" panose="02020603050405020304" pitchFamily="18" charset="0"/>
              </a:rPr>
            </a:br>
            <a:endParaRPr lang="en-IN" sz="4800" b="1" dirty="0">
              <a:solidFill>
                <a:schemeClr val="accent1"/>
              </a:solidFill>
            </a:endParaRPr>
          </a:p>
        </p:txBody>
      </p:sp>
      <p:sp>
        <p:nvSpPr>
          <p:cNvPr id="3" name="Content Placeholder 2">
            <a:extLst>
              <a:ext uri="{FF2B5EF4-FFF2-40B4-BE49-F238E27FC236}">
                <a16:creationId xmlns:a16="http://schemas.microsoft.com/office/drawing/2014/main" id="{0AB4B562-78C3-94CA-A8AA-12AD4CC8621E}"/>
              </a:ext>
            </a:extLst>
          </p:cNvPr>
          <p:cNvSpPr>
            <a:spLocks noGrp="1"/>
          </p:cNvSpPr>
          <p:nvPr>
            <p:ph idx="1"/>
          </p:nvPr>
        </p:nvSpPr>
        <p:spPr>
          <a:xfrm>
            <a:off x="838200" y="1713506"/>
            <a:ext cx="10515600" cy="4802588"/>
          </a:xfrm>
        </p:spPr>
        <p:txBody>
          <a:bodyPr/>
          <a:lstStyle/>
          <a:p>
            <a:pPr marL="0" indent="0">
              <a:buNone/>
            </a:pPr>
            <a:r>
              <a:rPr lang="en-US" sz="2400" dirty="0"/>
              <a:t>In conclusion, Brain–Computer Interfaces represent a breakthrough technology connecting the human brain with external devices. While they have shown remarkable potential in improving lives, particularly for people with disabilities, challenges like low accuracy, cost, and complexity remain. Ongoing research continues to make BCIs more efficient, reliable, and accessible.</a:t>
            </a:r>
          </a:p>
          <a:p>
            <a:pPr marL="0" indent="0">
              <a:buNone/>
            </a:pPr>
            <a:endParaRPr lang="en-US" sz="2400" dirty="0"/>
          </a:p>
          <a:p>
            <a:pPr marL="0" lvl="0" indent="0" eaLnBrk="0" fontAlgn="base" hangingPunct="0">
              <a:lnSpc>
                <a:spcPct val="100000"/>
              </a:lnSpc>
              <a:spcBef>
                <a:spcPct val="0"/>
              </a:spcBef>
              <a:spcAft>
                <a:spcPct val="0"/>
              </a:spcAft>
              <a:buFontTx/>
              <a:buChar char="•"/>
            </a:pPr>
            <a:r>
              <a:rPr lang="en-US" altLang="en-US" sz="2400" dirty="0"/>
              <a:t>Development of non-invasive, high-accuracy BCIs.</a:t>
            </a:r>
          </a:p>
          <a:p>
            <a:pPr marL="0" lvl="0" indent="0" eaLnBrk="0" fontAlgn="base" hangingPunct="0">
              <a:lnSpc>
                <a:spcPct val="100000"/>
              </a:lnSpc>
              <a:spcBef>
                <a:spcPct val="0"/>
              </a:spcBef>
              <a:spcAft>
                <a:spcPct val="0"/>
              </a:spcAft>
              <a:buFontTx/>
              <a:buChar char="•"/>
            </a:pPr>
            <a:r>
              <a:rPr lang="en-US" altLang="en-US" sz="2400" dirty="0"/>
              <a:t>Integration with Artificial Intelligence for smarter decisions.</a:t>
            </a:r>
          </a:p>
          <a:p>
            <a:pPr marL="0" lvl="0" indent="0" eaLnBrk="0" fontAlgn="base" hangingPunct="0">
              <a:lnSpc>
                <a:spcPct val="100000"/>
              </a:lnSpc>
              <a:spcBef>
                <a:spcPct val="0"/>
              </a:spcBef>
              <a:spcAft>
                <a:spcPct val="0"/>
              </a:spcAft>
              <a:buFontTx/>
              <a:buChar char="•"/>
            </a:pPr>
            <a:r>
              <a:rPr lang="en-US" altLang="en-US" sz="2400" dirty="0"/>
              <a:t>Affordable and portable BCI devices for mass adoption.</a:t>
            </a:r>
          </a:p>
          <a:p>
            <a:pPr marL="0" lvl="0" indent="0" eaLnBrk="0" fontAlgn="base" hangingPunct="0">
              <a:lnSpc>
                <a:spcPct val="100000"/>
              </a:lnSpc>
              <a:spcBef>
                <a:spcPct val="0"/>
              </a:spcBef>
              <a:spcAft>
                <a:spcPct val="0"/>
              </a:spcAft>
              <a:buFontTx/>
              <a:buChar char="•"/>
            </a:pPr>
            <a:r>
              <a:rPr lang="en-US" altLang="en-US" sz="2400" dirty="0"/>
              <a:t>Applications in education, entertainment, and industry.</a:t>
            </a:r>
          </a:p>
          <a:p>
            <a:pPr marL="0" lvl="0" indent="0" eaLnBrk="0" fontAlgn="base" hangingPunct="0">
              <a:lnSpc>
                <a:spcPct val="100000"/>
              </a:lnSpc>
              <a:spcBef>
                <a:spcPct val="0"/>
              </a:spcBef>
              <a:spcAft>
                <a:spcPct val="0"/>
              </a:spcAft>
              <a:buFontTx/>
              <a:buChar char="•"/>
            </a:pPr>
            <a:r>
              <a:rPr lang="en-US" altLang="en-US" sz="2400" dirty="0"/>
              <a:t>Towards human–AI symbiosis and neuro-enhancement.</a:t>
            </a:r>
          </a:p>
          <a:p>
            <a:pPr marL="0" indent="0">
              <a:buNone/>
            </a:pPr>
            <a:endParaRPr lang="en-US" sz="2400" dirty="0"/>
          </a:p>
          <a:p>
            <a:pPr marL="0" indent="0">
              <a:buNone/>
            </a:pPr>
            <a:endParaRPr lang="en-US" sz="2400" dirty="0"/>
          </a:p>
          <a:p>
            <a:pPr marL="0" indent="0">
              <a:buNone/>
            </a:pPr>
            <a:endParaRPr lang="en-US" sz="2400" dirty="0"/>
          </a:p>
          <a:p>
            <a:pPr marL="0" indent="0">
              <a:buNone/>
            </a:pPr>
            <a:endParaRPr lang="en-IN" sz="2400" dirty="0"/>
          </a:p>
        </p:txBody>
      </p:sp>
      <p:sp>
        <p:nvSpPr>
          <p:cNvPr id="5" name="Rectangle 4"/>
          <p:cNvSpPr/>
          <p:nvPr/>
        </p:nvSpPr>
        <p:spPr>
          <a:xfrm>
            <a:off x="1391478" y="1089329"/>
            <a:ext cx="7450371" cy="584775"/>
          </a:xfrm>
          <a:prstGeom prst="rect">
            <a:avLst/>
          </a:prstGeom>
        </p:spPr>
        <p:txBody>
          <a:bodyPr wrap="square">
            <a:spAutoFit/>
          </a:bodyPr>
          <a:lstStyle/>
          <a:p>
            <a:r>
              <a:rPr lang="en-US" sz="3200" dirty="0">
                <a:latin typeface="Times New Roman" panose="02020603050405020304" pitchFamily="18" charset="0"/>
                <a:cs typeface="Times New Roman" panose="02020603050405020304" pitchFamily="18" charset="0"/>
              </a:rPr>
              <a:t>              </a:t>
            </a:r>
            <a:r>
              <a:rPr lang="en-US" sz="3200" b="1" dirty="0">
                <a:solidFill>
                  <a:schemeClr val="accent1"/>
                </a:solidFill>
                <a:latin typeface="Times New Roman" panose="02020603050405020304" pitchFamily="18" charset="0"/>
                <a:cs typeface="Times New Roman" panose="02020603050405020304" pitchFamily="18" charset="0"/>
              </a:rPr>
              <a:t>Conclusion &amp; Future Scope</a:t>
            </a:r>
          </a:p>
        </p:txBody>
      </p:sp>
    </p:spTree>
    <p:extLst>
      <p:ext uri="{BB962C8B-B14F-4D97-AF65-F5344CB8AC3E}">
        <p14:creationId xmlns:p14="http://schemas.microsoft.com/office/powerpoint/2010/main" val="2404163828"/>
      </p:ext>
    </p:extLst>
  </p:cSld>
  <p:clrMapOvr>
    <a:masterClrMapping/>
  </p:clrMapOvr>
  <mc:AlternateContent xmlns:mc="http://schemas.openxmlformats.org/markup-compatibility/2006" xmlns:p14="http://schemas.microsoft.com/office/powerpoint/2010/main">
    <mc:Choice Requires="p14">
      <p:transition spd="slow" p14:dur="1300" advTm="4699">
        <p14:pan dir="u"/>
      </p:transition>
    </mc:Choice>
    <mc:Fallback xmlns="">
      <p:transition spd="slow" advTm="4699">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4058</TotalTime>
  <Words>899</Words>
  <Application>Microsoft Office PowerPoint</Application>
  <PresentationFormat>Widescreen</PresentationFormat>
  <Paragraphs>105</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Arial Narrow</vt:lpstr>
      <vt:lpstr>Calibri</vt:lpstr>
      <vt:lpstr>Calibri Light</vt:lpstr>
      <vt:lpstr>Liberation Serif</vt:lpstr>
      <vt:lpstr>Times New Roman</vt:lpstr>
      <vt:lpstr>Wingdings</vt:lpstr>
      <vt:lpstr>Office Theme</vt:lpstr>
      <vt:lpstr>PowerPoint Presentation</vt:lpstr>
      <vt:lpstr> Agenda</vt:lpstr>
      <vt:lpstr>Introduction</vt:lpstr>
      <vt:lpstr>PowerPoint Presentation</vt:lpstr>
      <vt:lpstr>Problem Statement</vt:lpstr>
      <vt:lpstr>Objectives</vt:lpstr>
      <vt:lpstr>Motivation</vt:lpstr>
      <vt:lpstr>System Architecture </vt:lpstr>
      <vt:lpstr>PowerPoint Presentation</vt:lpstr>
      <vt:lpstr>Methodology  </vt:lpstr>
      <vt:lpstr>Pros and Cons  </vt:lpstr>
      <vt:lpstr>Application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Utkarsha Dhane</dc:creator>
  <cp:lastModifiedBy>Kartik Jadhav B4</cp:lastModifiedBy>
  <cp:revision>48</cp:revision>
  <dcterms:created xsi:type="dcterms:W3CDTF">2022-08-14T04:53:17Z</dcterms:created>
  <dcterms:modified xsi:type="dcterms:W3CDTF">2025-09-10T18:43:13Z</dcterms:modified>
</cp:coreProperties>
</file>